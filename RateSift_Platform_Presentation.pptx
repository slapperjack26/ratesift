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RateSift, an automated freight and shipping rate comparison platform designed specifically for Canadian freight brokers, forwarders, and 3PLs.</a:t>
            </a:r>
          </a:p>
          <a:p/>
          <a:p>
            <a:r>
              <a:t>In this presentation, we will walk through all 11 core website views, dive into the functional intelligence powering the engine—including our 100% deterministic rating, Canadian FSA resolver, and deficit rating math—and review the updated 2026 commercial business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opportunity in freight brokerage is unbundling rating intelligence from bloated legacy TMS software. Brokers waste hours every day manually cross-referencing multi-tab spreadsheets from carriers like Day &amp; Ross, Manitoulin, Midland, and Bison. RateSift solves this with zero-baggage quoting: pure calculation and side-by-side comparison. By intentionally refusing to handle labels or tracking, we remain lightning fast, laser-focused, and non-threatening to existing dispatch tools.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RateSift platform is architected into three clear zones: the crawlable Public Domain for organic search acquisition, the Authenticated Console where brokers perform their daily rating workflows, and the Developer Showcase and API layer. Every route is guarded with session cookies. If an unauthenticated user attempts to visit the console, they are smoothly redirected to login with their intended destination preserved.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 pages are designed to turn skeptical logistics managers into active users within 60 seconds. The landing page establishes our unique value proposition: pure quoting, zero label bloat, Canadian data sovereignty. The Demo page lets visitors immediately interact with live calculations. When they see rates calculate dynamically across weight breaks and accessorials, trust is instantly built.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pricing page is completely transparent—no hidden setup fees or opaque sales gates. We offer an interactive monthly/annual switch that saves 20% on yearly plans. On authentication, we adhere to a strict design rule: a clean, single centered card without sidebar clutter. The 1-click test fill allows stakeholders and evaluators to experience the platform instantly as demo broker Alex Rivers.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RateSift: the Instant Freight Rater console. Brokers enter origin and destination postal codes, input weight and accessorials, and instantly receive ranked quotes from all confirmed carriers. Notice the in-memory re-sorting: brokers can switch between lowest price, fastest transit, and best value instantaneously on the client side without triggering slow server round-trips.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Carrier rate sheets are notoriously messy—often containing company letterheads, nested footnotes, and legal disclaimers. Our Autonomous Document Classifier classifies every row into seven distinct categories. It quarantines letterheads and legal disclaimers so they never corrupt calculation matrices. Most importantly, Rules 7 and 19 enforce our Human Confirmation Gate: a sheet cannot be used for live quoting until a human verifies the extraction.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3 is a major competitive differentiator for RateSift: complete Source Traceability. Every single number—base rates, CWT breaks, accessorial percentages—tracks its exact source coordinate back to the original spreadsheet. In freight brokerage, disputes over billed charges are common. With RateSift, a broker can defend any quote instantly by citing the exact spreadsheet row and column.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Quotes History Warehouse provides an immutable audit trail. Every quote calculation is archived with an RS-formatted identifier, timestamps, input parameters, and exact cell coordinates. Under System Preferences, brokers can configure default markups, preferred diesel indices, and dispatch hubs so that rating calculations reflect their exact commercial strategy.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foundational design principle of RateSift is Rule 8: 100% Deterministic Pricing. In freight logistics, quoting an incorrect number by even a few dollars can destroy broker margins or lose key accounts. We never use language models to calculate rates. Our engine enforces hundredweight scaling, carrier minimum floors, and dimensional weight rules mathematically with zero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Canadian freight rating depends entirely on Postal Code FSAs—the first three characters of the postal code. RateSift incorporates a comprehensive database of over 1,600 Canadian FSAs. When a broker enters 'M5V 2T6', the system instantly resolves it to Toronto, maps the carrier's proprietary zone, identifies the corridor, and applies any rural territory accessorials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Deficit weight rating is an essential technique used by top freight brokers. When a shipment is near a weight break—such as 880 lbs—bumping the billed weight to the 1,000 lb threshold drops the rate per hundredweight enough to produce a cheaper total price. RateSift calculates this automatically across every carrier and weight break, saving shippers money and giving brokers an immediate competitive edge.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Fuel surcharges represent 25% to 35% of total freight costs in Canada. Because diesel prices change weekly, hardcoding fuel into static spreadsheets is a recipe for margin erosion. RateSift integrates weekly diesel benchmarks from the Ontario Trucking Association and regional freight councils. Brokers can update fuel once in System Preferences, and the engine immediately recalculates fuel across every carrier quote.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commercial tools complete the broker's daily workflow. The Rate Sheet Masker protects broker confidentiality by scrubbing carrier account numbers, sales rep emails, and target margins before sharing rate sheets. The 1-Click Client Proposal Generator turns winning carrier rates into professional client quotes in seconds. Brokers set their target margin, and RateSift produces a branded proposal hiding wholesale carrier net costs.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commercial opportunity. The Canadian freight market is over $20 billion, with thousands of freight brokerages still relying on manual spreadsheets. Our Ideal Customer Profile is the mid-market freight broker and regional 3PL. They do not want another complex, $50,000 TMS that takes six months to implement. They want a fast, focused tool that ingests their rate sheets and returns ranked quotes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monetization strategy is designed for land-and-expand. Free Starter lets any broker upload up to 3 real rate sheets and process 50 quotes per month with no credit card required. Broker Pro at $79 CAD/month targets solo brokers and small teams. Broker Team at $199 CAD/month includes 5 dispatcher seats and 15,000 quotes, with additional seats at $25/month. Business Custom provides high-volume API access for 3PLs and enterprise shippers.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longer-term expansion strategy centers on the Embedded Quoting API. Instead of 3PLs building their own complex rating engines from scratch, they call RateSift via REST API with an API key. With sub-second latency and guaranteed Canadian data residency, RateSift becomes the quoting infrastructure behind third-party freight portals, ERPs, and e-commerce checkouts.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financial model is anchored by exceptional unit economics. Because our calculation engine is deterministic Python rather than generative AI, our server compute costs are minimal, yielding gross margins above 85%. We project reaching $180,000 CAD ARR in Year 1, scaling to $750,000 CAD in Year 2 and $2.4M CAD in Year 3. RateSift is production-ready, fully tested with 47 automated tests, and positioned to become the premier freight rate engine in Canada.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atesift-logo.png"/>
          <p:cNvPicPr>
            <a:picLocks noChangeAspect="1"/>
          </p:cNvPicPr>
          <p:nvPr/>
        </p:nvPicPr>
        <p:blipFill>
          <a:blip r:embed="rId2"/>
          <a:stretch>
            <a:fillRect/>
          </a:stretch>
        </p:blipFill>
        <p:spPr>
          <a:xfrm>
            <a:off x="1371600" y="1463040"/>
            <a:ext cx="2057400" cy="594360"/>
          </a:xfrm>
          <a:prstGeom prst="rect">
            <a:avLst/>
          </a:prstGeom>
        </p:spPr>
      </p:pic>
      <p:sp>
        <p:nvSpPr>
          <p:cNvPr id="4" name="Rounded Rectangle 3"/>
          <p:cNvSpPr/>
          <p:nvPr/>
        </p:nvSpPr>
        <p:spPr>
          <a:xfrm>
            <a:off x="1371600" y="2286000"/>
            <a:ext cx="4114800" cy="347472"/>
          </a:xfrm>
          <a:prstGeom prst="roundRect">
            <a:avLst/>
          </a:prstGeom>
          <a:solidFill>
            <a:srgbClr val="450A0A"/>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ECACA"/>
                </a:solidFill>
              </a:defRPr>
            </a:pPr>
            <a:r>
              <a:t>CANADIAN FREIGHT &amp; LOGISTICS RATING SAAS</a:t>
            </a:r>
          </a:p>
        </p:txBody>
      </p:sp>
      <p:sp>
        <p:nvSpPr>
          <p:cNvPr id="5" name="TextBox 4"/>
          <p:cNvSpPr txBox="1"/>
          <p:nvPr/>
        </p:nvSpPr>
        <p:spPr>
          <a:xfrm>
            <a:off x="1371600" y="2834640"/>
            <a:ext cx="9144000" cy="2011680"/>
          </a:xfrm>
          <a:prstGeom prst="rect">
            <a:avLst/>
          </a:prstGeom>
          <a:noFill/>
        </p:spPr>
        <p:txBody>
          <a:bodyPr wrap="square">
            <a:spAutoFit/>
          </a:bodyPr>
          <a:lstStyle/>
          <a:p>
            <a:pPr>
              <a:spcAft>
                <a:spcPts val="1000"/>
              </a:spcAft>
              <a:defRPr sz="3200" b="1">
                <a:solidFill>
                  <a:srgbClr val="FFFFFF"/>
                </a:solidFill>
              </a:defRPr>
            </a:pPr>
            <a:r>
              <a:t>RateSift Platform Overview &amp; 2026 Business Plan</a:t>
            </a:r>
          </a:p>
          <a:p>
            <a:pPr>
              <a:spcAft>
                <a:spcPts val="2000"/>
              </a:spcAft>
              <a:defRPr sz="1500">
                <a:solidFill>
                  <a:srgbClr val="CBD5E1"/>
                </a:solidFill>
              </a:defRPr>
            </a:pPr>
            <a:r>
              <a:t>Automated Spreadsheet Rating • 100% Deterministic Engine • Strict Zero-Booking Scope</a:t>
            </a:r>
          </a:p>
          <a:p>
            <a:pPr>
              <a:defRPr sz="1100">
                <a:solidFill>
                  <a:srgbClr val="64748B"/>
                </a:solidFill>
              </a:defRPr>
            </a:pPr>
            <a:r>
              <a:t>Prepared for: Executive Leadership &amp; Investors • Hosted in Canada (WHC) • PIPEDA Compliant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PLATFORM FOUNDATION</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Executive Summary: The Freight Quoting Bottleneck</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02/18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3346704"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1. The Broker Problem</a:t>
            </a:r>
          </a:p>
          <a:p>
            <a:pPr>
              <a:spcAft>
                <a:spcPts val="500"/>
              </a:spcAft>
              <a:defRPr sz="1050"/>
            </a:pPr>
            <a:r>
              <a:rPr b="1">
                <a:solidFill>
                  <a:srgbClr val="0F172A"/>
                </a:solidFill>
              </a:rPr>
              <a:t>Disparate Tariffs: </a:t>
            </a:r>
            <a:r>
              <a:rPr>
                <a:solidFill>
                  <a:srgbClr val="64748B"/>
                </a:solidFill>
              </a:rPr>
              <a:t>Brokers manage dozens of carrier rate cards in differing Excel, CSV, and PDF layouts.</a:t>
            </a:r>
          </a:p>
          <a:p>
            <a:pPr>
              <a:spcAft>
                <a:spcPts val="500"/>
              </a:spcAft>
              <a:defRPr sz="1050"/>
            </a:pPr>
            <a:r>
              <a:rPr b="1">
                <a:solidFill>
                  <a:srgbClr val="0F172A"/>
                </a:solidFill>
              </a:rPr>
              <a:t>Manual Cell Hunting: </a:t>
            </a:r>
            <a:r>
              <a:rPr>
                <a:solidFill>
                  <a:srgbClr val="64748B"/>
                </a:solidFill>
              </a:rPr>
              <a:t>Looking up weight breaks, CWT rates, and minimums across sheets takes 15–20 minutes per quote.</a:t>
            </a:r>
          </a:p>
          <a:p>
            <a:pPr>
              <a:spcAft>
                <a:spcPts val="500"/>
              </a:spcAft>
              <a:defRPr sz="1050"/>
            </a:pPr>
            <a:r>
              <a:rPr b="1">
                <a:solidFill>
                  <a:srgbClr val="0F172A"/>
                </a:solidFill>
              </a:rPr>
              <a:t>Error-Prone Markups: </a:t>
            </a:r>
            <a:r>
              <a:rPr>
                <a:solidFill>
                  <a:srgbClr val="64748B"/>
                </a:solidFill>
              </a:rPr>
              <a:t>Manual calculations risk underquoting or missing fuel/accessorial surcharges.</a:t>
            </a:r>
          </a:p>
          <a:p>
            <a:pPr>
              <a:spcAft>
                <a:spcPts val="500"/>
              </a:spcAft>
              <a:defRPr sz="1050"/>
            </a:pPr>
            <a:r>
              <a:rPr b="1">
                <a:solidFill>
                  <a:srgbClr val="0F172A"/>
                </a:solidFill>
              </a:rPr>
              <a:t>Bloated TMS Solutions: </a:t>
            </a:r>
            <a:r>
              <a:rPr>
                <a:solidFill>
                  <a:srgbClr val="64748B"/>
                </a:solidFill>
              </a:rPr>
              <a:t>Legacy Transportation Management Systems cost $30k–$80k/yr and force operational lock-in.</a:t>
            </a:r>
          </a:p>
        </p:txBody>
      </p:sp>
      <p:sp>
        <p:nvSpPr>
          <p:cNvPr id="10" name="Rounded Rectangle 9"/>
          <p:cNvSpPr/>
          <p:nvPr/>
        </p:nvSpPr>
        <p:spPr>
          <a:xfrm>
            <a:off x="43891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664208"/>
            <a:ext cx="3346704"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2. The RateSift Solution</a:t>
            </a:r>
          </a:p>
          <a:p>
            <a:pPr>
              <a:spcAft>
                <a:spcPts val="500"/>
              </a:spcAft>
              <a:defRPr sz="1050"/>
            </a:pPr>
            <a:r>
              <a:rPr b="1">
                <a:solidFill>
                  <a:srgbClr val="0F172A"/>
                </a:solidFill>
              </a:rPr>
              <a:t>Automated Ingestion: </a:t>
            </a:r>
            <a:r>
              <a:rPr>
                <a:solidFill>
                  <a:srgbClr val="64748B"/>
                </a:solidFill>
              </a:rPr>
              <a:t>Drag-and-drop any carrier Excel spreadsheet; auto-normalizes columns and weight breaks.</a:t>
            </a:r>
          </a:p>
          <a:p>
            <a:pPr>
              <a:spcAft>
                <a:spcPts val="500"/>
              </a:spcAft>
              <a:defRPr sz="1050"/>
            </a:pPr>
            <a:r>
              <a:rPr b="1">
                <a:solidFill>
                  <a:srgbClr val="0F172A"/>
                </a:solidFill>
              </a:rPr>
              <a:t>100% Deterministic: </a:t>
            </a:r>
            <a:r>
              <a:rPr>
                <a:solidFill>
                  <a:srgbClr val="64748B"/>
                </a:solidFill>
              </a:rPr>
              <a:t>Every rate is computed via pure Python algorithms—zero LLM guessing or hallucinations.</a:t>
            </a:r>
          </a:p>
          <a:p>
            <a:pPr>
              <a:spcAft>
                <a:spcPts val="500"/>
              </a:spcAft>
              <a:defRPr sz="1050"/>
            </a:pPr>
            <a:r>
              <a:rPr b="1">
                <a:solidFill>
                  <a:srgbClr val="0F172A"/>
                </a:solidFill>
              </a:rPr>
              <a:t>Cell-Level Traceability: </a:t>
            </a:r>
            <a:r>
              <a:rPr>
                <a:solidFill>
                  <a:srgbClr val="64748B"/>
                </a:solidFill>
              </a:rPr>
              <a:t>Every quoted rate records its exact origin cell coordinate (e.g. Sheet 1 • Row 14, Col C).</a:t>
            </a:r>
          </a:p>
          <a:p>
            <a:pPr>
              <a:spcAft>
                <a:spcPts val="500"/>
              </a:spcAft>
              <a:defRPr sz="1050"/>
            </a:pPr>
            <a:r>
              <a:rPr b="1">
                <a:solidFill>
                  <a:srgbClr val="0F172A"/>
                </a:solidFill>
              </a:rPr>
              <a:t>1-Click Client Proposals: </a:t>
            </a:r>
            <a:r>
              <a:rPr>
                <a:solidFill>
                  <a:srgbClr val="64748B"/>
                </a:solidFill>
              </a:rPr>
              <a:t>Instantly generates branded customer proposals with broker margins, masking wholesale net rates.</a:t>
            </a:r>
          </a:p>
        </p:txBody>
      </p:sp>
      <p:sp>
        <p:nvSpPr>
          <p:cNvPr id="13" name="Rounded Rectangle 12"/>
          <p:cNvSpPr/>
          <p:nvPr/>
        </p:nvSpPr>
        <p:spPr>
          <a:xfrm>
            <a:off x="80467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664208"/>
            <a:ext cx="3346704"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3. Strict Scope Boundary</a:t>
            </a:r>
          </a:p>
          <a:p>
            <a:pPr>
              <a:spcAft>
                <a:spcPts val="500"/>
              </a:spcAft>
              <a:defRPr sz="1050"/>
            </a:pPr>
            <a:r>
              <a:rPr b="1">
                <a:solidFill>
                  <a:srgbClr val="0F172A"/>
                </a:solidFill>
              </a:rPr>
              <a:t>Quoting Intelligence Only: </a:t>
            </a:r>
            <a:r>
              <a:rPr>
                <a:solidFill>
                  <a:srgbClr val="64748B"/>
                </a:solidFill>
              </a:rPr>
              <a:t>RateSift strictly focuses on rating math, carrier comparison, and client proposals.</a:t>
            </a:r>
          </a:p>
          <a:p>
            <a:pPr>
              <a:spcAft>
                <a:spcPts val="500"/>
              </a:spcAft>
              <a:defRPr sz="1050"/>
            </a:pPr>
            <a:r>
              <a:rPr b="1">
                <a:solidFill>
                  <a:srgbClr val="0F172A"/>
                </a:solidFill>
              </a:rPr>
              <a:t>NO Label Printing: </a:t>
            </a:r>
            <a:r>
              <a:rPr>
                <a:solidFill>
                  <a:srgbClr val="64748B"/>
                </a:solidFill>
              </a:rPr>
              <a:t>Zero carrier shipping label generation or thermal printer overhead.</a:t>
            </a:r>
          </a:p>
          <a:p>
            <a:pPr>
              <a:spcAft>
                <a:spcPts val="500"/>
              </a:spcAft>
              <a:defRPr sz="1050"/>
            </a:pPr>
            <a:r>
              <a:rPr b="1">
                <a:solidFill>
                  <a:srgbClr val="0F172A"/>
                </a:solidFill>
              </a:rPr>
              <a:t>NO Booking Workflows: </a:t>
            </a:r>
            <a:r>
              <a:rPr>
                <a:solidFill>
                  <a:srgbClr val="64748B"/>
                </a:solidFill>
              </a:rPr>
              <a:t>Does not handle carrier dispatch booking or tender confirmation.</a:t>
            </a:r>
          </a:p>
          <a:p>
            <a:pPr>
              <a:spcAft>
                <a:spcPts val="500"/>
              </a:spcAft>
              <a:defRPr sz="1050"/>
            </a:pPr>
            <a:r>
              <a:rPr b="1">
                <a:solidFill>
                  <a:srgbClr val="0F172A"/>
                </a:solidFill>
              </a:rPr>
              <a:t>NO Tracking Numbers: </a:t>
            </a:r>
            <a:r>
              <a:rPr>
                <a:solidFill>
                  <a:srgbClr val="64748B"/>
                </a:solidFill>
              </a:rPr>
              <a:t>Eliminates operational tracking clutter to maintain sub-second computational agility.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PAGE ARCHITECTURE</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Website Architecture: Public vs. Authenticated Segregation</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03/18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3346704"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Public Domain (5 Views)</a:t>
            </a:r>
          </a:p>
          <a:p>
            <a:pPr>
              <a:spcAft>
                <a:spcPts val="500"/>
              </a:spcAft>
              <a:defRPr sz="1050"/>
            </a:pPr>
            <a:r>
              <a:rPr b="1">
                <a:solidFill>
                  <a:srgbClr val="0F172A"/>
                </a:solidFill>
              </a:rPr>
              <a:t>Home / Landing ( / ): </a:t>
            </a:r>
            <a:r>
              <a:rPr>
                <a:solidFill>
                  <a:srgbClr val="64748B"/>
                </a:solidFill>
              </a:rPr>
              <a:t>Crawlable SEO hub, value proposition, features overview, FAQ schema, mobile drawer.</a:t>
            </a:r>
          </a:p>
          <a:p>
            <a:pPr>
              <a:spcAft>
                <a:spcPts val="500"/>
              </a:spcAft>
              <a:defRPr sz="1050"/>
            </a:pPr>
            <a:r>
              <a:rPr b="1">
                <a:solidFill>
                  <a:srgbClr val="0F172A"/>
                </a:solidFill>
              </a:rPr>
              <a:t>Interactive Demo (/demo): </a:t>
            </a:r>
            <a:r>
              <a:rPr>
                <a:solidFill>
                  <a:srgbClr val="64748B"/>
                </a:solidFill>
              </a:rPr>
              <a:t>Live simulation sandbox preloaded with parcel, pallet, and medical rate sheets.</a:t>
            </a:r>
          </a:p>
          <a:p>
            <a:pPr>
              <a:spcAft>
                <a:spcPts val="500"/>
              </a:spcAft>
              <a:defRPr sz="1050"/>
            </a:pPr>
            <a:r>
              <a:rPr b="1">
                <a:solidFill>
                  <a:srgbClr val="0F172A"/>
                </a:solidFill>
              </a:rPr>
              <a:t>Transparent Pricing (/pricing): </a:t>
            </a:r>
            <a:r>
              <a:rPr>
                <a:solidFill>
                  <a:srgbClr val="64748B"/>
                </a:solidFill>
              </a:rPr>
              <a:t>4-tier commercial plans with annual billing toggle (-20%) and capability matrix.</a:t>
            </a:r>
          </a:p>
          <a:p>
            <a:pPr>
              <a:spcAft>
                <a:spcPts val="500"/>
              </a:spcAft>
              <a:defRPr sz="1050"/>
            </a:pPr>
            <a:r>
              <a:rPr b="1">
                <a:solidFill>
                  <a:srgbClr val="0F172A"/>
                </a:solidFill>
              </a:rPr>
              <a:t>Log In Screen (/login): </a:t>
            </a:r>
            <a:r>
              <a:rPr>
                <a:solidFill>
                  <a:srgbClr val="64748B"/>
                </a:solidFill>
              </a:rPr>
              <a:t>Distraction-free single card with 1-click test fill for Alex Rivers.</a:t>
            </a:r>
          </a:p>
          <a:p>
            <a:pPr>
              <a:spcAft>
                <a:spcPts val="500"/>
              </a:spcAft>
              <a:defRPr sz="1050"/>
            </a:pPr>
            <a:r>
              <a:rPr b="1">
                <a:solidFill>
                  <a:srgbClr val="0F172A"/>
                </a:solidFill>
              </a:rPr>
              <a:t>Get Started Screen (/get-started): </a:t>
            </a:r>
            <a:r>
              <a:rPr>
                <a:solidFill>
                  <a:srgbClr val="64748B"/>
                </a:solidFill>
              </a:rPr>
              <a:t>Frictionless account registration provisioning Free Starter access.</a:t>
            </a:r>
          </a:p>
        </p:txBody>
      </p:sp>
      <p:sp>
        <p:nvSpPr>
          <p:cNvPr id="10" name="Rounded Rectangle 9"/>
          <p:cNvSpPr/>
          <p:nvPr/>
        </p:nvSpPr>
        <p:spPr>
          <a:xfrm>
            <a:off x="43891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664208"/>
            <a:ext cx="3346704"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Authenticated Console (5 Views)</a:t>
            </a:r>
          </a:p>
          <a:p>
            <a:pPr>
              <a:spcAft>
                <a:spcPts val="500"/>
              </a:spcAft>
              <a:defRPr sz="1050"/>
            </a:pPr>
            <a:r>
              <a:rPr b="1">
                <a:solidFill>
                  <a:srgbClr val="0F172A"/>
                </a:solidFill>
              </a:rPr>
              <a:t>Instant Freight Rater (/console/new-quote): </a:t>
            </a:r>
            <a:r>
              <a:rPr>
                <a:solidFill>
                  <a:srgbClr val="64748B"/>
                </a:solidFill>
              </a:rPr>
              <a:t>Broker cockpit with dropzone, Canadian FSA rater, and live multi-carrier ranker.</a:t>
            </a:r>
          </a:p>
          <a:p>
            <a:pPr>
              <a:spcAft>
                <a:spcPts val="500"/>
              </a:spcAft>
              <a:defRPr sz="1050"/>
            </a:pPr>
            <a:r>
              <a:rPr b="1">
                <a:solidFill>
                  <a:srgbClr val="0F172A"/>
                </a:solidFill>
              </a:rPr>
              <a:t>Carrier Tariffs (/console/rate-sheets): </a:t>
            </a:r>
            <a:r>
              <a:rPr>
                <a:solidFill>
                  <a:srgbClr val="64748B"/>
                </a:solidFill>
              </a:rPr>
              <a:t>Rate sheet library, cell coordinate inspector, and Human Confirmation Gate.</a:t>
            </a:r>
          </a:p>
          <a:p>
            <a:pPr>
              <a:spcAft>
                <a:spcPts val="500"/>
              </a:spcAft>
              <a:defRPr sz="1050"/>
            </a:pPr>
            <a:r>
              <a:rPr b="1">
                <a:solidFill>
                  <a:srgbClr val="0F172A"/>
                </a:solidFill>
              </a:rPr>
              <a:t>Quotes History (/console/history): </a:t>
            </a:r>
            <a:r>
              <a:rPr>
                <a:solidFill>
                  <a:srgbClr val="64748B"/>
                </a:solidFill>
              </a:rPr>
              <a:t>Audit warehouse with RS-YYYYMMDD quote codes, cell references, and Excel export.</a:t>
            </a:r>
          </a:p>
          <a:p>
            <a:pPr>
              <a:spcAft>
                <a:spcPts val="500"/>
              </a:spcAft>
              <a:defRPr sz="1050"/>
            </a:pPr>
            <a:r>
              <a:rPr b="1">
                <a:solidFill>
                  <a:srgbClr val="0F172A"/>
                </a:solidFill>
              </a:rPr>
              <a:t>Account Settings (/console/account): </a:t>
            </a:r>
            <a:r>
              <a:rPr>
                <a:solidFill>
                  <a:srgbClr val="64748B"/>
                </a:solidFill>
              </a:rPr>
              <a:t>Broker profile, company branding, default origin hub, and subscription status.</a:t>
            </a:r>
          </a:p>
          <a:p>
            <a:pPr>
              <a:spcAft>
                <a:spcPts val="500"/>
              </a:spcAft>
              <a:defRPr sz="1050"/>
            </a:pPr>
            <a:r>
              <a:rPr b="1">
                <a:solidFill>
                  <a:srgbClr val="0F172A"/>
                </a:solidFill>
              </a:rPr>
              <a:t>System Preferences (/console/settings): </a:t>
            </a:r>
            <a:r>
              <a:rPr>
                <a:solidFill>
                  <a:srgbClr val="64748B"/>
                </a:solidFill>
              </a:rPr>
              <a:t>Default markup (+10%), CAD/USD currencies, lb/kg units, and fuel index toggles.</a:t>
            </a:r>
          </a:p>
        </p:txBody>
      </p:sp>
      <p:sp>
        <p:nvSpPr>
          <p:cNvPr id="13" name="Rounded Rectangle 12"/>
          <p:cNvSpPr/>
          <p:nvPr/>
        </p:nvSpPr>
        <p:spPr>
          <a:xfrm>
            <a:off x="80467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664208"/>
            <a:ext cx="3346704"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Showcase &amp; APIs</a:t>
            </a:r>
          </a:p>
          <a:p>
            <a:pPr>
              <a:spcAft>
                <a:spcPts val="500"/>
              </a:spcAft>
              <a:defRPr sz="1050"/>
            </a:pPr>
            <a:r>
              <a:rPr b="1">
                <a:solidFill>
                  <a:srgbClr val="0F172A"/>
                </a:solidFill>
              </a:rPr>
              <a:t>Visual Flowchart (/flowchart): </a:t>
            </a:r>
            <a:r>
              <a:rPr>
                <a:solidFill>
                  <a:srgbClr val="64748B"/>
                </a:solidFill>
              </a:rPr>
              <a:t>Live interactive map showing complete user routing and session transitions.</a:t>
            </a:r>
          </a:p>
          <a:p>
            <a:pPr>
              <a:spcAft>
                <a:spcPts val="500"/>
              </a:spcAft>
              <a:defRPr sz="1050"/>
            </a:pPr>
            <a:r>
              <a:rPr b="1">
                <a:solidFill>
                  <a:srgbClr val="0F172A"/>
                </a:solidFill>
              </a:rPr>
              <a:t>Master Showcase (/showcase): </a:t>
            </a:r>
            <a:r>
              <a:rPr>
                <a:solidFill>
                  <a:srgbClr val="64748B"/>
                </a:solidFill>
              </a:rPr>
              <a:t>Multi-viewport device testing toolbar (Mobile 390px, Tablet 768px, Laptop 1024px, Desktop).</a:t>
            </a:r>
          </a:p>
          <a:p>
            <a:pPr>
              <a:spcAft>
                <a:spcPts val="500"/>
              </a:spcAft>
              <a:defRPr sz="1050"/>
            </a:pPr>
            <a:r>
              <a:rPr b="1">
                <a:solidFill>
                  <a:srgbClr val="0F172A"/>
                </a:solidFill>
              </a:rPr>
              <a:t>Embedded Quoting API (/docs): </a:t>
            </a:r>
            <a:r>
              <a:rPr>
                <a:solidFill>
                  <a:srgbClr val="64748B"/>
                </a:solidFill>
              </a:rPr>
              <a:t>Interactive OpenAPI Swagger documentation for programmatic B2B batch quoting.</a:t>
            </a:r>
          </a:p>
          <a:p>
            <a:pPr>
              <a:spcAft>
                <a:spcPts val="500"/>
              </a:spcAft>
              <a:defRPr sz="1050"/>
            </a:pPr>
            <a:r>
              <a:rPr b="1">
                <a:solidFill>
                  <a:srgbClr val="0F172A"/>
                </a:solidFill>
              </a:rPr>
              <a:t>Canadian Cloud Tenancy: </a:t>
            </a:r>
            <a:r>
              <a:rPr>
                <a:solidFill>
                  <a:srgbClr val="64748B"/>
                </a:solidFill>
              </a:rPr>
              <a:t>All sessions, tariffs, and database queries are hosted in Canada (WHC / PIPEDA).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WEBSITE WALKTHROUGH</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Public Experience: High-Converting SEO &amp; Interactive Demo</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04/18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5084064"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663440" cy="4251960"/>
          </a:xfrm>
          <a:prstGeom prst="rect">
            <a:avLst/>
          </a:prstGeom>
          <a:noFill/>
        </p:spPr>
        <p:txBody>
          <a:bodyPr wrap="square" lIns="0" tIns="0" rIns="0" bIns="0">
            <a:spAutoFit/>
          </a:bodyPr>
          <a:lstStyle/>
          <a:p>
            <a:pPr>
              <a:spcAft>
                <a:spcPts val="800"/>
              </a:spcAft>
              <a:defRPr sz="1400" b="1">
                <a:solidFill>
                  <a:srgbClr val="0F172A"/>
                </a:solidFill>
              </a:defRPr>
            </a:pPr>
            <a:r>
              <a:t>Home / Landing Page ( GET / )</a:t>
            </a:r>
          </a:p>
          <a:p>
            <a:pPr>
              <a:spcAft>
                <a:spcPts val="500"/>
              </a:spcAft>
              <a:defRPr sz="1050"/>
            </a:pPr>
            <a:r>
              <a:rPr b="1">
                <a:solidFill>
                  <a:srgbClr val="0F172A"/>
                </a:solidFill>
              </a:rPr>
              <a:t>Semantic SEO &amp; Breadcrumbs: </a:t>
            </a:r>
            <a:r>
              <a:rPr>
                <a:solidFill>
                  <a:srgbClr val="64748B"/>
                </a:solidFill>
              </a:rPr>
              <a:t>Optimized for terms like 'Canadian freight rater', 'batch Excel shipping calculator', and '3PL rate engine'.</a:t>
            </a:r>
          </a:p>
          <a:p>
            <a:pPr>
              <a:spcAft>
                <a:spcPts val="500"/>
              </a:spcAft>
              <a:defRPr sz="1050"/>
            </a:pPr>
            <a:r>
              <a:rPr b="1">
                <a:solidFill>
                  <a:srgbClr val="0F172A"/>
                </a:solidFill>
              </a:rPr>
              <a:t>Responsive Layout: </a:t>
            </a:r>
            <a:r>
              <a:rPr>
                <a:solidFill>
                  <a:srgbClr val="64748B"/>
                </a:solidFill>
              </a:rPr>
              <a:t>Fluid container scaling from 390px mobile screens up to 1400px ultra-wide monitors.</a:t>
            </a:r>
          </a:p>
          <a:p>
            <a:pPr>
              <a:spcAft>
                <a:spcPts val="500"/>
              </a:spcAft>
              <a:defRPr sz="1050"/>
            </a:pPr>
            <a:r>
              <a:rPr b="1">
                <a:solidFill>
                  <a:srgbClr val="0F172A"/>
                </a:solidFill>
              </a:rPr>
              <a:t>Mobile Hamburger Drawer: </a:t>
            </a:r>
            <a:r>
              <a:rPr>
                <a:solidFill>
                  <a:srgbClr val="64748B"/>
                </a:solidFill>
              </a:rPr>
              <a:t>Collapsible navigation drawer ensuring seamless browsing on smartphones.</a:t>
            </a:r>
          </a:p>
          <a:p>
            <a:pPr>
              <a:spcAft>
                <a:spcPts val="500"/>
              </a:spcAft>
              <a:defRPr sz="1050"/>
            </a:pPr>
            <a:r>
              <a:rPr b="1">
                <a:solidFill>
                  <a:srgbClr val="0F172A"/>
                </a:solidFill>
              </a:rPr>
              <a:t>Structured Data Schema: </a:t>
            </a:r>
            <a:r>
              <a:rPr>
                <a:solidFill>
                  <a:srgbClr val="64748B"/>
                </a:solidFill>
              </a:rPr>
              <a:t>SoftwareApplication, AggregateOffer, and FAQPage JSON-LD schemas embedded for Google rich snippets.</a:t>
            </a:r>
          </a:p>
          <a:p>
            <a:pPr>
              <a:spcAft>
                <a:spcPts val="500"/>
              </a:spcAft>
              <a:defRPr sz="1050"/>
            </a:pPr>
            <a:r>
              <a:rPr b="1">
                <a:solidFill>
                  <a:srgbClr val="0F172A"/>
                </a:solidFill>
              </a:rPr>
              <a:t>Clear Call-to-Actions: </a:t>
            </a:r>
            <a:r>
              <a:rPr>
                <a:solidFill>
                  <a:srgbClr val="64748B"/>
                </a:solidFill>
              </a:rPr>
              <a:t>Direct pathways to test the live Demo sandbox or register for the Free Starter tier.</a:t>
            </a:r>
          </a:p>
        </p:txBody>
      </p:sp>
      <p:sp>
        <p:nvSpPr>
          <p:cNvPr id="10" name="Rounded Rectangle 9"/>
          <p:cNvSpPr/>
          <p:nvPr/>
        </p:nvSpPr>
        <p:spPr>
          <a:xfrm>
            <a:off x="6217920" y="1645920"/>
            <a:ext cx="52120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664208"/>
            <a:ext cx="5175504"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828800"/>
            <a:ext cx="4754880" cy="4251960"/>
          </a:xfrm>
          <a:prstGeom prst="rect">
            <a:avLst/>
          </a:prstGeom>
          <a:noFill/>
        </p:spPr>
        <p:txBody>
          <a:bodyPr wrap="square" lIns="0" tIns="0" rIns="0" bIns="0">
            <a:spAutoFit/>
          </a:bodyPr>
          <a:lstStyle/>
          <a:p>
            <a:pPr>
              <a:spcAft>
                <a:spcPts val="800"/>
              </a:spcAft>
              <a:defRPr sz="1400" b="1">
                <a:solidFill>
                  <a:srgbClr val="0F172A"/>
                </a:solidFill>
              </a:defRPr>
            </a:pPr>
            <a:r>
              <a:t>Interactive Demo Sandbox ( GET /demo )</a:t>
            </a:r>
          </a:p>
          <a:p>
            <a:pPr>
              <a:spcAft>
                <a:spcPts val="500"/>
              </a:spcAft>
              <a:defRPr sz="1050"/>
            </a:pPr>
            <a:r>
              <a:rPr b="1">
                <a:solidFill>
                  <a:srgbClr val="0F172A"/>
                </a:solidFill>
              </a:rPr>
              <a:t>Zero-Registration Testing: </a:t>
            </a:r>
            <a:r>
              <a:rPr>
                <a:solidFill>
                  <a:srgbClr val="64748B"/>
                </a:solidFill>
              </a:rPr>
              <a:t>Prospective clients can evaluate calculation speed and accuracy without creating an account.</a:t>
            </a:r>
          </a:p>
          <a:p>
            <a:pPr>
              <a:spcAft>
                <a:spcPts val="500"/>
              </a:spcAft>
              <a:defRPr sz="1050"/>
            </a:pPr>
            <a:r>
              <a:rPr b="1">
                <a:solidFill>
                  <a:srgbClr val="0F172A"/>
                </a:solidFill>
              </a:rPr>
              <a:t>Preloaded Canadian Tariffs: </a:t>
            </a:r>
            <a:r>
              <a:rPr>
                <a:solidFill>
                  <a:srgbClr val="64748B"/>
                </a:solidFill>
              </a:rPr>
              <a:t>Includes sample carrier sheets for Parcels, General LTL Pallets, and Medical/Cold Cargo.</a:t>
            </a:r>
          </a:p>
          <a:p>
            <a:pPr>
              <a:spcAft>
                <a:spcPts val="500"/>
              </a:spcAft>
              <a:defRPr sz="1050"/>
            </a:pPr>
            <a:r>
              <a:rPr b="1">
                <a:solidFill>
                  <a:srgbClr val="0F172A"/>
                </a:solidFill>
              </a:rPr>
              <a:t>Real-Time Sliders: </a:t>
            </a:r>
            <a:r>
              <a:rPr>
                <a:solidFill>
                  <a:srgbClr val="64748B"/>
                </a:solidFill>
              </a:rPr>
              <a:t>Interactive sliders for weight (100–10,000 lbs) and toggles for tailgate, appointment, and heated service.</a:t>
            </a:r>
          </a:p>
          <a:p>
            <a:pPr>
              <a:spcAft>
                <a:spcPts val="500"/>
              </a:spcAft>
              <a:defRPr sz="1050"/>
            </a:pPr>
            <a:r>
              <a:rPr b="1">
                <a:solidFill>
                  <a:srgbClr val="0F172A"/>
                </a:solidFill>
              </a:rPr>
              <a:t>Side-by-Side Carrier Output: </a:t>
            </a:r>
            <a:r>
              <a:rPr>
                <a:solidFill>
                  <a:srgbClr val="64748B"/>
                </a:solidFill>
              </a:rPr>
              <a:t>Renders instant price rankings comparing Day &amp; Ross, Manitoulin, Midland, and Bison.</a:t>
            </a:r>
          </a:p>
          <a:p>
            <a:pPr>
              <a:spcAft>
                <a:spcPts val="500"/>
              </a:spcAft>
              <a:defRPr sz="1050"/>
            </a:pPr>
            <a:r>
              <a:rPr b="1">
                <a:solidFill>
                  <a:srgbClr val="0F172A"/>
                </a:solidFill>
              </a:rPr>
              <a:t>Transparent Cell Coordinate Inspection: </a:t>
            </a:r>
            <a:r>
              <a:rPr>
                <a:solidFill>
                  <a:srgbClr val="64748B"/>
                </a:solidFill>
              </a:rPr>
              <a:t>Highlights the exact row and column coordinate from which every rate was extracted.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WEBSITE WALKTHROUGH</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Public Pages: Transparent Pricing &amp; Distraction-Free Auth</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05/18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5084064"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663440" cy="4251960"/>
          </a:xfrm>
          <a:prstGeom prst="rect">
            <a:avLst/>
          </a:prstGeom>
          <a:noFill/>
        </p:spPr>
        <p:txBody>
          <a:bodyPr wrap="square" lIns="0" tIns="0" rIns="0" bIns="0">
            <a:spAutoFit/>
          </a:bodyPr>
          <a:lstStyle/>
          <a:p>
            <a:pPr>
              <a:spcAft>
                <a:spcPts val="800"/>
              </a:spcAft>
              <a:defRPr sz="1400" b="1">
                <a:solidFill>
                  <a:srgbClr val="0F172A"/>
                </a:solidFill>
              </a:defRPr>
            </a:pPr>
            <a:r>
              <a:t>Transparent Pricing Page ( GET /pricing )</a:t>
            </a:r>
          </a:p>
          <a:p>
            <a:pPr>
              <a:spcAft>
                <a:spcPts val="500"/>
              </a:spcAft>
              <a:defRPr sz="1050"/>
            </a:pPr>
            <a:r>
              <a:rPr b="1">
                <a:solidFill>
                  <a:srgbClr val="0F172A"/>
                </a:solidFill>
              </a:rPr>
              <a:t>4 Clear Commercial Tiers: </a:t>
            </a:r>
            <a:r>
              <a:rPr>
                <a:solidFill>
                  <a:srgbClr val="64748B"/>
                </a:solidFill>
              </a:rPr>
              <a:t>Free Starter ($0), Broker Pro ($79 CAD/mo), Broker Team ($199 CAD/mo), and Business Custom.</a:t>
            </a:r>
          </a:p>
          <a:p>
            <a:pPr>
              <a:spcAft>
                <a:spcPts val="500"/>
              </a:spcAft>
              <a:defRPr sz="1050"/>
            </a:pPr>
            <a:r>
              <a:rPr b="1">
                <a:solidFill>
                  <a:srgbClr val="0F172A"/>
                </a:solidFill>
              </a:rPr>
              <a:t>Annual Billing Discount Switch: </a:t>
            </a:r>
            <a:r>
              <a:rPr>
                <a:solidFill>
                  <a:srgbClr val="64748B"/>
                </a:solidFill>
              </a:rPr>
              <a:t>Interactive toggle calculates instant 20% annual discount across all paid plans.</a:t>
            </a:r>
          </a:p>
          <a:p>
            <a:pPr>
              <a:spcAft>
                <a:spcPts val="500"/>
              </a:spcAft>
              <a:defRPr sz="1050"/>
            </a:pPr>
            <a:r>
              <a:rPr b="1">
                <a:solidFill>
                  <a:srgbClr val="0F172A"/>
                </a:solidFill>
              </a:rPr>
              <a:t>Detailed Capability Matrix: </a:t>
            </a:r>
            <a:r>
              <a:rPr>
                <a:solidFill>
                  <a:srgbClr val="64748B"/>
                </a:solidFill>
              </a:rPr>
              <a:t>Uncompromising comparison table detailing active rate sheets, monthly quote quotas, and API access.</a:t>
            </a:r>
          </a:p>
          <a:p>
            <a:pPr>
              <a:spcAft>
                <a:spcPts val="500"/>
              </a:spcAft>
              <a:defRPr sz="1050"/>
            </a:pPr>
            <a:r>
              <a:rPr b="1">
                <a:solidFill>
                  <a:srgbClr val="0F172A"/>
                </a:solidFill>
              </a:rPr>
              <a:t>Embedded Quoting API Spotlight: </a:t>
            </a:r>
            <a:r>
              <a:rPr>
                <a:solidFill>
                  <a:srgbClr val="64748B"/>
                </a:solidFill>
              </a:rPr>
              <a:t>Outlines REST endpoints and sub-second SLAs for 3PLs integrating rate lookups into customer portals.</a:t>
            </a:r>
          </a:p>
          <a:p>
            <a:pPr>
              <a:spcAft>
                <a:spcPts val="500"/>
              </a:spcAft>
              <a:defRPr sz="1050"/>
            </a:pPr>
            <a:r>
              <a:rPr b="1">
                <a:solidFill>
                  <a:srgbClr val="0F172A"/>
                </a:solidFill>
              </a:rPr>
              <a:t>Zero-Bloat Guarantee: </a:t>
            </a:r>
            <a:r>
              <a:rPr>
                <a:solidFill>
                  <a:srgbClr val="64748B"/>
                </a:solidFill>
              </a:rPr>
              <a:t>Reinforces that customers never pay for unnecessary label or dispatch features.</a:t>
            </a:r>
          </a:p>
        </p:txBody>
      </p:sp>
      <p:sp>
        <p:nvSpPr>
          <p:cNvPr id="10" name="Rounded Rectangle 9"/>
          <p:cNvSpPr/>
          <p:nvPr/>
        </p:nvSpPr>
        <p:spPr>
          <a:xfrm>
            <a:off x="6217920" y="1645920"/>
            <a:ext cx="52120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664208"/>
            <a:ext cx="5175504" cy="731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828800"/>
            <a:ext cx="4754880" cy="4251960"/>
          </a:xfrm>
          <a:prstGeom prst="rect">
            <a:avLst/>
          </a:prstGeom>
          <a:noFill/>
        </p:spPr>
        <p:txBody>
          <a:bodyPr wrap="square" lIns="0" tIns="0" rIns="0" bIns="0">
            <a:spAutoFit/>
          </a:bodyPr>
          <a:lstStyle/>
          <a:p>
            <a:pPr>
              <a:spcAft>
                <a:spcPts val="800"/>
              </a:spcAft>
              <a:defRPr sz="1400" b="1">
                <a:solidFill>
                  <a:srgbClr val="0F172A"/>
                </a:solidFill>
              </a:defRPr>
            </a:pPr>
            <a:r>
              <a:t>Auth Screens ( GET /login &amp; /get-started )</a:t>
            </a:r>
          </a:p>
          <a:p>
            <a:pPr>
              <a:spcAft>
                <a:spcPts val="500"/>
              </a:spcAft>
              <a:defRPr sz="1050"/>
            </a:pPr>
            <a:r>
              <a:rPr b="1">
                <a:solidFill>
                  <a:srgbClr val="0F172A"/>
                </a:solidFill>
              </a:rPr>
              <a:t>Single Centered Card Design: </a:t>
            </a:r>
            <a:r>
              <a:rPr>
                <a:solidFill>
                  <a:srgbClr val="64748B"/>
                </a:solidFill>
              </a:rPr>
              <a:t>Distraction-free authentication form centered vertically and horizontally on all viewports.</a:t>
            </a:r>
          </a:p>
          <a:p>
            <a:pPr>
              <a:spcAft>
                <a:spcPts val="500"/>
              </a:spcAft>
              <a:defRPr sz="1050"/>
            </a:pPr>
            <a:r>
              <a:rPr b="1">
                <a:solidFill>
                  <a:srgbClr val="0F172A"/>
                </a:solidFill>
              </a:rPr>
              <a:t>1-Click Demo Auto-Fill: </a:t>
            </a:r>
            <a:r>
              <a:rPr>
                <a:solidFill>
                  <a:srgbClr val="64748B"/>
                </a:solidFill>
              </a:rPr>
              <a:t>Instant auto-fill button for Alex Rivers (Broker Specialist) enables seamless 1-click evaluation.</a:t>
            </a:r>
          </a:p>
          <a:p>
            <a:pPr>
              <a:spcAft>
                <a:spcPts val="500"/>
              </a:spcAft>
              <a:defRPr sz="1050"/>
            </a:pPr>
            <a:r>
              <a:rPr b="1">
                <a:solidFill>
                  <a:srgbClr val="0F172A"/>
                </a:solidFill>
              </a:rPr>
              <a:t>Secure 30-Day Sessions: </a:t>
            </a:r>
            <a:r>
              <a:rPr>
                <a:solidFill>
                  <a:srgbClr val="64748B"/>
                </a:solidFill>
              </a:rPr>
              <a:t>Issues HTTP-only, secure session cookies (ratesift_session) for authenticated console access.</a:t>
            </a:r>
          </a:p>
          <a:p>
            <a:pPr>
              <a:spcAft>
                <a:spcPts val="500"/>
              </a:spcAft>
              <a:defRPr sz="1050"/>
            </a:pPr>
            <a:r>
              <a:rPr b="1">
                <a:solidFill>
                  <a:srgbClr val="0F172A"/>
                </a:solidFill>
              </a:rPr>
              <a:t>Frictionless Onboarding: </a:t>
            </a:r>
            <a:r>
              <a:rPr>
                <a:solidFill>
                  <a:srgbClr val="64748B"/>
                </a:solidFill>
              </a:rPr>
              <a:t>New registrations automatically provision Free Starter access (3 sheets / 50 monthly quotes).</a:t>
            </a:r>
          </a:p>
          <a:p>
            <a:pPr>
              <a:spcAft>
                <a:spcPts val="500"/>
              </a:spcAft>
              <a:defRPr sz="1050"/>
            </a:pPr>
            <a:r>
              <a:rPr b="1">
                <a:solidFill>
                  <a:srgbClr val="0F172A"/>
                </a:solidFill>
              </a:rPr>
              <a:t>Smart Post-Login Routing: </a:t>
            </a:r>
            <a:r>
              <a:rPr>
                <a:solidFill>
                  <a:srgbClr val="64748B"/>
                </a:solidFill>
              </a:rPr>
              <a:t>Respects the 'next' URL parameter to return users to their exact workflow after logging 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CONSOLE WALKTHROUGH</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Console: Instant Freight Rater Cockpit ( /console/new-quote )</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06/18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5084064"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663440" cy="4251960"/>
          </a:xfrm>
          <a:prstGeom prst="rect">
            <a:avLst/>
          </a:prstGeom>
          <a:noFill/>
        </p:spPr>
        <p:txBody>
          <a:bodyPr wrap="square" lIns="0" tIns="0" rIns="0" bIns="0">
            <a:spAutoFit/>
          </a:bodyPr>
          <a:lstStyle/>
          <a:p>
            <a:pPr>
              <a:spcAft>
                <a:spcPts val="800"/>
              </a:spcAft>
              <a:defRPr sz="1400" b="1">
                <a:solidFill>
                  <a:srgbClr val="0F172A"/>
                </a:solidFill>
              </a:defRPr>
            </a:pPr>
            <a:r>
              <a:t>The Broker's Quoting Center</a:t>
            </a:r>
          </a:p>
          <a:p>
            <a:pPr>
              <a:spcAft>
                <a:spcPts val="500"/>
              </a:spcAft>
              <a:defRPr sz="1050"/>
            </a:pPr>
            <a:r>
              <a:rPr b="1">
                <a:solidFill>
                  <a:srgbClr val="0F172A"/>
                </a:solidFill>
              </a:rPr>
              <a:t>Canadian FSA Origin/Destination: </a:t>
            </a:r>
            <a:r>
              <a:rPr>
                <a:solidFill>
                  <a:srgbClr val="64748B"/>
                </a:solidFill>
              </a:rPr>
              <a:t>Type any Canadian postal code (e.g. M5V 2T6) or city; resolves to normalized freight hubs.</a:t>
            </a:r>
          </a:p>
          <a:p>
            <a:pPr>
              <a:spcAft>
                <a:spcPts val="500"/>
              </a:spcAft>
              <a:defRPr sz="1050"/>
            </a:pPr>
            <a:r>
              <a:rPr b="1">
                <a:solidFill>
                  <a:srgbClr val="0F172A"/>
                </a:solidFill>
              </a:rPr>
              <a:t>Shipment Weight &amp; Dimensions: </a:t>
            </a:r>
            <a:r>
              <a:rPr>
                <a:solidFill>
                  <a:srgbClr val="64748B"/>
                </a:solidFill>
              </a:rPr>
              <a:t>Handles actual vs. dimensional weight calculations with standard cubic divisors.</a:t>
            </a:r>
          </a:p>
          <a:p>
            <a:pPr>
              <a:spcAft>
                <a:spcPts val="500"/>
              </a:spcAft>
              <a:defRPr sz="1050"/>
            </a:pPr>
            <a:r>
              <a:rPr b="1">
                <a:solidFill>
                  <a:srgbClr val="0F172A"/>
                </a:solidFill>
              </a:rPr>
              <a:t>Comprehensive Accessorials: </a:t>
            </a:r>
            <a:r>
              <a:rPr>
                <a:solidFill>
                  <a:srgbClr val="64748B"/>
                </a:solidFill>
              </a:rPr>
              <a:t>Checkboxes for Tailgate/Liftgate, Delivery Appointment, Residential, and Heated Service.</a:t>
            </a:r>
          </a:p>
          <a:p>
            <a:pPr>
              <a:spcAft>
                <a:spcPts val="500"/>
              </a:spcAft>
              <a:defRPr sz="1050"/>
            </a:pPr>
            <a:r>
              <a:rPr b="1">
                <a:solidFill>
                  <a:srgbClr val="0F172A"/>
                </a:solidFill>
              </a:rPr>
              <a:t>Multi-Carrier Ranking Cards: </a:t>
            </a:r>
            <a:r>
              <a:rPr>
                <a:solidFill>
                  <a:srgbClr val="64748B"/>
                </a:solidFill>
              </a:rPr>
              <a:t>Ranked side-by-side with carrier name, transit days, base rate, fuel surcharge, and final total.</a:t>
            </a:r>
          </a:p>
          <a:p>
            <a:pPr>
              <a:spcAft>
                <a:spcPts val="500"/>
              </a:spcAft>
              <a:defRPr sz="1050"/>
            </a:pPr>
            <a:r>
              <a:rPr b="1">
                <a:solidFill>
                  <a:srgbClr val="0F172A"/>
                </a:solidFill>
              </a:rPr>
              <a:t>Client-Side In-Memory Re-Sorting: </a:t>
            </a:r>
            <a:r>
              <a:rPr>
                <a:solidFill>
                  <a:srgbClr val="64748B"/>
                </a:solidFill>
              </a:rPr>
              <a:t>Instant 1-click buttons: 'Lowest Price', 'Fastest Transit', and 'Best Value' without API delays.</a:t>
            </a:r>
          </a:p>
          <a:p>
            <a:pPr>
              <a:spcAft>
                <a:spcPts val="500"/>
              </a:spcAft>
              <a:defRPr sz="1050"/>
            </a:pPr>
            <a:r>
              <a:rPr b="1">
                <a:solidFill>
                  <a:srgbClr val="0F172A"/>
                </a:solidFill>
              </a:rPr>
              <a:t>Deep Line-Item Audit Accordion: </a:t>
            </a:r>
            <a:r>
              <a:rPr>
                <a:solidFill>
                  <a:srgbClr val="64748B"/>
                </a:solidFill>
              </a:rPr>
              <a:t>1-click expansion reveals hundredweight tier, minimum floor adjustments, and source cells.</a:t>
            </a:r>
          </a:p>
        </p:txBody>
      </p:sp>
      <p:pic>
        <p:nvPicPr>
          <p:cNvPr id="10" name="Picture 9" descr="ratesift_console_mockup.jpg"/>
          <p:cNvPicPr>
            <a:picLocks noChangeAspect="1"/>
          </p:cNvPicPr>
          <p:nvPr/>
        </p:nvPicPr>
        <p:blipFill>
          <a:blip r:embed="rId3"/>
          <a:stretch>
            <a:fillRect/>
          </a:stretch>
        </p:blipFill>
        <p:spPr>
          <a:xfrm>
            <a:off x="6217920" y="1645920"/>
            <a:ext cx="5212080" cy="2909068"/>
          </a:xfrm>
          <a:prstGeom prst="rect">
            <a:avLst/>
          </a:prstGeom>
        </p:spPr>
      </p:pic>
      <p:sp>
        <p:nvSpPr>
          <p:cNvPr id="11" name="Rounded Rectangle 10"/>
          <p:cNvSpPr/>
          <p:nvPr/>
        </p:nvSpPr>
        <p:spPr>
          <a:xfrm>
            <a:off x="6217920" y="4846320"/>
            <a:ext cx="5212080" cy="13716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0F172A"/>
                </a:solidFill>
              </a:defRPr>
            </a:pPr>
            <a:r>
              <a:t>Key UI Innovation: In-Memory Sorting &amp; Coordinate Audit</a:t>
            </a:r>
          </a:p>
          <a:p>
            <a:pPr>
              <a:defRPr sz="1000">
                <a:solidFill>
                  <a:srgbClr val="64748B"/>
                </a:solidFill>
              </a:defRPr>
            </a:pPr>
            <a:r>
              <a:t>Brokers can compare Day &amp; Ross, Manitoulin, Midland, and Bison in real-time, re-sort by speed or price in 0ms, and verify every rate against original spreadsheet cells.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CONSOLE WALKTHROUGH</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Console: Excel Ingestion &amp; 7-Category Document Classifier</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07/18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3346704"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1. Autonomous Dropzone</a:t>
            </a:r>
          </a:p>
          <a:p>
            <a:pPr>
              <a:spcAft>
                <a:spcPts val="500"/>
              </a:spcAft>
              <a:defRPr sz="1050"/>
            </a:pPr>
            <a:r>
              <a:rPr b="1">
                <a:solidFill>
                  <a:srgbClr val="0F172A"/>
                </a:solidFill>
              </a:rPr>
              <a:t>Multi-Format Ingestion: </a:t>
            </a:r>
            <a:r>
              <a:rPr>
                <a:solidFill>
                  <a:srgbClr val="64748B"/>
                </a:solidFill>
              </a:rPr>
              <a:t>Accepts .xlsx, .xls, and .csv rate cards from any major Canadian or US carrier.</a:t>
            </a:r>
          </a:p>
          <a:p>
            <a:pPr>
              <a:spcAft>
                <a:spcPts val="500"/>
              </a:spcAft>
              <a:defRPr sz="1050"/>
            </a:pPr>
            <a:r>
              <a:rPr b="1">
                <a:solidFill>
                  <a:srgbClr val="0F172A"/>
                </a:solidFill>
              </a:rPr>
              <a:t>Header Detection: </a:t>
            </a:r>
            <a:r>
              <a:rPr>
                <a:solidFill>
                  <a:srgbClr val="64748B"/>
                </a:solidFill>
              </a:rPr>
              <a:t>Scans rows dynamically to detect rate break matrices at arbitrary spreadsheet positions.</a:t>
            </a:r>
          </a:p>
          <a:p>
            <a:pPr>
              <a:spcAft>
                <a:spcPts val="500"/>
              </a:spcAft>
              <a:defRPr sz="1050"/>
            </a:pPr>
            <a:r>
              <a:rPr b="1">
                <a:solidFill>
                  <a:srgbClr val="0F172A"/>
                </a:solidFill>
              </a:rPr>
              <a:t>Currency &amp; Unit Capture: </a:t>
            </a:r>
            <a:r>
              <a:rPr>
                <a:solidFill>
                  <a:srgbClr val="64748B"/>
                </a:solidFill>
              </a:rPr>
              <a:t>Explicitly records CAD vs USD, lbs vs kg, and inches vs cm without guessing.</a:t>
            </a:r>
          </a:p>
        </p:txBody>
      </p:sp>
      <p:sp>
        <p:nvSpPr>
          <p:cNvPr id="10" name="Rounded Rectangle 9"/>
          <p:cNvSpPr/>
          <p:nvPr/>
        </p:nvSpPr>
        <p:spPr>
          <a:xfrm>
            <a:off x="43891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664208"/>
            <a:ext cx="3346704"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2. 7-Category Classification</a:t>
            </a:r>
          </a:p>
          <a:p>
            <a:pPr>
              <a:spcAft>
                <a:spcPts val="500"/>
              </a:spcAft>
              <a:defRPr sz="1050"/>
            </a:pPr>
            <a:r>
              <a:rPr b="1">
                <a:solidFill>
                  <a:srgbClr val="0F172A"/>
                </a:solidFill>
              </a:rPr>
              <a:t>Rate Matrix Rows: </a:t>
            </a:r>
            <a:r>
              <a:rPr>
                <a:solidFill>
                  <a:srgbClr val="64748B"/>
                </a:solidFill>
              </a:rPr>
              <a:t>Ingested into normalized rate break tables for mathematical rating.</a:t>
            </a:r>
          </a:p>
          <a:p>
            <a:pPr>
              <a:spcAft>
                <a:spcPts val="500"/>
              </a:spcAft>
              <a:defRPr sz="1050"/>
            </a:pPr>
            <a:r>
              <a:rPr b="1">
                <a:solidFill>
                  <a:srgbClr val="0F172A"/>
                </a:solidFill>
              </a:rPr>
              <a:t>Letterhead Exclusion (Rule 34): </a:t>
            </a:r>
            <a:r>
              <a:rPr>
                <a:solidFill>
                  <a:srgbClr val="64748B"/>
                </a:solidFill>
              </a:rPr>
              <a:t>Automatically quarantines carrier contact info and billing addresses.</a:t>
            </a:r>
          </a:p>
          <a:p>
            <a:pPr>
              <a:spcAft>
                <a:spcPts val="500"/>
              </a:spcAft>
              <a:defRPr sz="1050"/>
            </a:pPr>
            <a:r>
              <a:rPr b="1">
                <a:solidFill>
                  <a:srgbClr val="0F172A"/>
                </a:solidFill>
              </a:rPr>
              <a:t>Disclaimer Quarantine (Rule 35): </a:t>
            </a:r>
            <a:r>
              <a:rPr>
                <a:solidFill>
                  <a:srgbClr val="64748B"/>
                </a:solidFill>
              </a:rPr>
              <a:t>Isolates legal terms and E&amp;OE boilerplate from numeric rating math.</a:t>
            </a:r>
          </a:p>
          <a:p>
            <a:pPr>
              <a:spcAft>
                <a:spcPts val="500"/>
              </a:spcAft>
              <a:defRPr sz="1050"/>
            </a:pPr>
            <a:r>
              <a:rPr b="1">
                <a:solidFill>
                  <a:srgbClr val="0F172A"/>
                </a:solidFill>
              </a:rPr>
              <a:t>Prose Accessorials (Rule 36): </a:t>
            </a:r>
            <a:r>
              <a:rPr>
                <a:solidFill>
                  <a:srgbClr val="64748B"/>
                </a:solidFill>
              </a:rPr>
              <a:t>Extracts surcharges embedded in descriptive text into structured fee ledgers.</a:t>
            </a:r>
          </a:p>
        </p:txBody>
      </p:sp>
      <p:sp>
        <p:nvSpPr>
          <p:cNvPr id="13" name="Rounded Rectangle 12"/>
          <p:cNvSpPr/>
          <p:nvPr/>
        </p:nvSpPr>
        <p:spPr>
          <a:xfrm>
            <a:off x="80467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664208"/>
            <a:ext cx="3346704"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3. Human Confirmation Gate</a:t>
            </a:r>
          </a:p>
          <a:p>
            <a:pPr>
              <a:spcAft>
                <a:spcPts val="500"/>
              </a:spcAft>
              <a:defRPr sz="1050"/>
            </a:pPr>
            <a:r>
              <a:rPr b="1">
                <a:solidFill>
                  <a:srgbClr val="0F172A"/>
                </a:solidFill>
              </a:rPr>
              <a:t>Rule 7 &amp; 19 Enforcement: </a:t>
            </a:r>
            <a:r>
              <a:rPr>
                <a:solidFill>
                  <a:srgbClr val="64748B"/>
                </a:solidFill>
              </a:rPr>
              <a:t>Newly uploaded sheets remain PENDING_REVIEW until confirmed by a human broker.</a:t>
            </a:r>
          </a:p>
          <a:p>
            <a:pPr>
              <a:spcAft>
                <a:spcPts val="500"/>
              </a:spcAft>
              <a:defRPr sz="1050"/>
            </a:pPr>
            <a:r>
              <a:rPr b="1">
                <a:solidFill>
                  <a:srgbClr val="0F172A"/>
                </a:solidFill>
              </a:rPr>
              <a:t>Confusion Gate Detection: </a:t>
            </a:r>
            <a:r>
              <a:rPr>
                <a:solidFill>
                  <a:srgbClr val="64748B"/>
                </a:solidFill>
              </a:rPr>
              <a:t>When header candidates score within 10% confidence, system halts and requests user verification.</a:t>
            </a:r>
          </a:p>
          <a:p>
            <a:pPr>
              <a:spcAft>
                <a:spcPts val="500"/>
              </a:spcAft>
              <a:defRPr sz="1050"/>
            </a:pPr>
            <a:r>
              <a:rPr b="1">
                <a:solidFill>
                  <a:srgbClr val="0F172A"/>
                </a:solidFill>
              </a:rPr>
              <a:t>Rich Ingestion Preview: </a:t>
            </a:r>
            <a:r>
              <a:rPr>
                <a:solidFill>
                  <a:srgbClr val="64748B"/>
                </a:solidFill>
              </a:rPr>
              <a:t>Displays sample headers, candidate row numbers, and underlying data rows for 1-click confirmation.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CONSOLE WALKTHROUGH</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Console: Carrier Tariffs &amp; Source Cell Coordinates</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08/18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5084064"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663440" cy="4251960"/>
          </a:xfrm>
          <a:prstGeom prst="rect">
            <a:avLst/>
          </a:prstGeom>
          <a:noFill/>
        </p:spPr>
        <p:txBody>
          <a:bodyPr wrap="square" lIns="0" tIns="0" rIns="0" bIns="0">
            <a:spAutoFit/>
          </a:bodyPr>
          <a:lstStyle/>
          <a:p>
            <a:pPr>
              <a:spcAft>
                <a:spcPts val="800"/>
              </a:spcAft>
              <a:defRPr sz="1400" b="1">
                <a:solidFill>
                  <a:srgbClr val="0F172A"/>
                </a:solidFill>
              </a:defRPr>
            </a:pPr>
            <a:r>
              <a:t>Carrier Tariffs Library ( /console/rate-sheets )</a:t>
            </a:r>
          </a:p>
          <a:p>
            <a:pPr>
              <a:spcAft>
                <a:spcPts val="500"/>
              </a:spcAft>
              <a:defRPr sz="1050"/>
            </a:pPr>
            <a:r>
              <a:rPr b="1">
                <a:solidFill>
                  <a:srgbClr val="0F172A"/>
                </a:solidFill>
              </a:rPr>
              <a:t>Central Tariff Repository: </a:t>
            </a:r>
            <a:r>
              <a:rPr>
                <a:solidFill>
                  <a:srgbClr val="64748B"/>
                </a:solidFill>
              </a:rPr>
              <a:t>Manage active, pending, and archived rate cards across all contracted carriers.</a:t>
            </a:r>
          </a:p>
          <a:p>
            <a:pPr>
              <a:spcAft>
                <a:spcPts val="500"/>
              </a:spcAft>
              <a:defRPr sz="1050"/>
            </a:pPr>
            <a:r>
              <a:rPr b="1">
                <a:solidFill>
                  <a:srgbClr val="0F172A"/>
                </a:solidFill>
              </a:rPr>
              <a:t>Version Precedence (Rule 17): </a:t>
            </a:r>
            <a:r>
              <a:rPr>
                <a:solidFill>
                  <a:srgbClr val="64748B"/>
                </a:solidFill>
              </a:rPr>
              <a:t>Automatically detects multiple tariff revisions; uses the latest valid version and flags older revisions as superseded.</a:t>
            </a:r>
          </a:p>
          <a:p>
            <a:pPr>
              <a:spcAft>
                <a:spcPts val="500"/>
              </a:spcAft>
              <a:defRPr sz="1050"/>
            </a:pPr>
            <a:r>
              <a:rPr b="1">
                <a:solidFill>
                  <a:srgbClr val="0F172A"/>
                </a:solidFill>
              </a:rPr>
              <a:t>Effective &amp; Expiry Filtering (Rule 16): </a:t>
            </a:r>
            <a:r>
              <a:rPr>
                <a:solidFill>
                  <a:srgbClr val="64748B"/>
                </a:solidFill>
              </a:rPr>
              <a:t>Excludes expired tariffs or future-dated rate sheets with clear broker alerts.</a:t>
            </a:r>
          </a:p>
          <a:p>
            <a:pPr>
              <a:spcAft>
                <a:spcPts val="500"/>
              </a:spcAft>
              <a:defRPr sz="1050"/>
            </a:pPr>
            <a:r>
              <a:rPr b="1">
                <a:solidFill>
                  <a:srgbClr val="0F172A"/>
                </a:solidFill>
              </a:rPr>
              <a:t>Tariff Status Badges: </a:t>
            </a:r>
            <a:r>
              <a:rPr>
                <a:solidFill>
                  <a:srgbClr val="64748B"/>
                </a:solidFill>
              </a:rPr>
              <a:t>Visual indicators displaying CONFIRMED (ready for rating), PENDING_REVIEW, or ARCHIVED.</a:t>
            </a:r>
          </a:p>
          <a:p>
            <a:pPr>
              <a:spcAft>
                <a:spcPts val="500"/>
              </a:spcAft>
              <a:defRPr sz="1050"/>
            </a:pPr>
            <a:r>
              <a:rPr b="1">
                <a:solidFill>
                  <a:srgbClr val="0F172A"/>
                </a:solidFill>
              </a:rPr>
              <a:t>One-Click Re-Extraction: </a:t>
            </a:r>
            <a:r>
              <a:rPr>
                <a:solidFill>
                  <a:srgbClr val="64748B"/>
                </a:solidFill>
              </a:rPr>
              <a:t>Brokers can trigger re-parsing or review extracted accessorial rules at any time.</a:t>
            </a:r>
          </a:p>
        </p:txBody>
      </p:sp>
      <p:sp>
        <p:nvSpPr>
          <p:cNvPr id="10" name="Rounded Rectangle 9"/>
          <p:cNvSpPr/>
          <p:nvPr/>
        </p:nvSpPr>
        <p:spPr>
          <a:xfrm>
            <a:off x="6217920" y="1645920"/>
            <a:ext cx="52120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664208"/>
            <a:ext cx="5175504"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828800"/>
            <a:ext cx="4754880" cy="4251960"/>
          </a:xfrm>
          <a:prstGeom prst="rect">
            <a:avLst/>
          </a:prstGeom>
          <a:noFill/>
        </p:spPr>
        <p:txBody>
          <a:bodyPr wrap="square" lIns="0" tIns="0" rIns="0" bIns="0">
            <a:spAutoFit/>
          </a:bodyPr>
          <a:lstStyle/>
          <a:p>
            <a:pPr>
              <a:spcAft>
                <a:spcPts val="800"/>
              </a:spcAft>
              <a:defRPr sz="1400" b="1">
                <a:solidFill>
                  <a:srgbClr val="0F172A"/>
                </a:solidFill>
              </a:defRPr>
            </a:pPr>
            <a:r>
              <a:t>Source Traceability &amp; Cell Coordinates (Rule 3)</a:t>
            </a:r>
          </a:p>
          <a:p>
            <a:pPr>
              <a:spcAft>
                <a:spcPts val="500"/>
              </a:spcAft>
              <a:defRPr sz="1050"/>
            </a:pPr>
            <a:r>
              <a:rPr b="1">
                <a:solidFill>
                  <a:srgbClr val="0F172A"/>
                </a:solidFill>
              </a:rPr>
              <a:t>Zero Black-Box Pricing: </a:t>
            </a:r>
            <a:r>
              <a:rPr>
                <a:solidFill>
                  <a:srgbClr val="64748B"/>
                </a:solidFill>
              </a:rPr>
              <a:t>Every extracted rate records its exact origin cell coordinate in the database.</a:t>
            </a:r>
          </a:p>
          <a:p>
            <a:pPr>
              <a:spcAft>
                <a:spcPts val="500"/>
              </a:spcAft>
              <a:defRPr sz="1050"/>
            </a:pPr>
            <a:r>
              <a:rPr b="1">
                <a:solidFill>
                  <a:srgbClr val="0F172A"/>
                </a:solidFill>
              </a:rPr>
              <a:t>Cell Coordinate Notation: </a:t>
            </a:r>
            <a:r>
              <a:rPr>
                <a:solidFill>
                  <a:srgbClr val="64748B"/>
                </a:solidFill>
              </a:rPr>
              <a:t>Expressed as 'Sheet 1 • Row 14, Col C' or '[Tariff-2026] Rates!D12'.</a:t>
            </a:r>
          </a:p>
          <a:p>
            <a:pPr>
              <a:spcAft>
                <a:spcPts val="500"/>
              </a:spcAft>
              <a:defRPr sz="1050"/>
            </a:pPr>
            <a:r>
              <a:rPr b="1">
                <a:solidFill>
                  <a:srgbClr val="0F172A"/>
                </a:solidFill>
              </a:rPr>
              <a:t>Audit Defense for Brokers: </a:t>
            </a:r>
            <a:r>
              <a:rPr>
                <a:solidFill>
                  <a:srgbClr val="64748B"/>
                </a:solidFill>
              </a:rPr>
              <a:t>When a customer or accounting department questions a freight quote, brokers can pinpoint the exact cell in seconds.</a:t>
            </a:r>
          </a:p>
          <a:p>
            <a:pPr>
              <a:spcAft>
                <a:spcPts val="500"/>
              </a:spcAft>
              <a:defRPr sz="1050"/>
            </a:pPr>
            <a:r>
              <a:rPr b="1">
                <a:solidFill>
                  <a:srgbClr val="0F172A"/>
                </a:solidFill>
              </a:rPr>
              <a:t>Cell Coordinate Inspector Modal: </a:t>
            </a:r>
            <a:r>
              <a:rPr>
                <a:solidFill>
                  <a:srgbClr val="64748B"/>
                </a:solidFill>
              </a:rPr>
              <a:t>Clicking any rate card allows brokers to inspect all underlying cell coordinates in an interactive table.</a:t>
            </a:r>
          </a:p>
          <a:p>
            <a:pPr>
              <a:spcAft>
                <a:spcPts val="500"/>
              </a:spcAft>
              <a:defRPr sz="1050"/>
            </a:pPr>
            <a:r>
              <a:rPr b="1">
                <a:solidFill>
                  <a:srgbClr val="0F172A"/>
                </a:solidFill>
              </a:rPr>
              <a:t>Canadian Data Residency Tag: </a:t>
            </a:r>
            <a:r>
              <a:rPr>
                <a:solidFill>
                  <a:srgbClr val="64748B"/>
                </a:solidFill>
              </a:rPr>
              <a:t>Every cell record is tagged with 'CA_CENTRAL_WHC' ensuring strict PIPEDA compliance.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CONSOLE WALKTHROUGH</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Console: Quotes History Warehouse &amp; System Preferences</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09/18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5084064"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663440" cy="4251960"/>
          </a:xfrm>
          <a:prstGeom prst="rect">
            <a:avLst/>
          </a:prstGeom>
          <a:noFill/>
        </p:spPr>
        <p:txBody>
          <a:bodyPr wrap="square" lIns="0" tIns="0" rIns="0" bIns="0">
            <a:spAutoFit/>
          </a:bodyPr>
          <a:lstStyle/>
          <a:p>
            <a:pPr>
              <a:spcAft>
                <a:spcPts val="800"/>
              </a:spcAft>
              <a:defRPr sz="1400" b="1">
                <a:solidFill>
                  <a:srgbClr val="0F172A"/>
                </a:solidFill>
              </a:defRPr>
            </a:pPr>
            <a:r>
              <a:t>Quotes History Warehouse ( /console/history )</a:t>
            </a:r>
          </a:p>
          <a:p>
            <a:pPr>
              <a:spcAft>
                <a:spcPts val="500"/>
              </a:spcAft>
              <a:defRPr sz="1050"/>
            </a:pPr>
            <a:r>
              <a:rPr b="1">
                <a:solidFill>
                  <a:srgbClr val="0F172A"/>
                </a:solidFill>
              </a:rPr>
              <a:t>Immutable Audit Trail (Rule 30): </a:t>
            </a:r>
            <a:r>
              <a:rPr>
                <a:solidFill>
                  <a:srgbClr val="64748B"/>
                </a:solidFill>
              </a:rPr>
              <a:t>Every calculation generates a unique, permanent audit ID (e.g. RS-20261001-A9F3).</a:t>
            </a:r>
          </a:p>
          <a:p>
            <a:pPr>
              <a:spcAft>
                <a:spcPts val="500"/>
              </a:spcAft>
              <a:defRPr sz="1050"/>
            </a:pPr>
            <a:r>
              <a:rPr b="1">
                <a:solidFill>
                  <a:srgbClr val="0F172A"/>
                </a:solidFill>
              </a:rPr>
              <a:t>Real-Time Search &amp; Filtering: </a:t>
            </a:r>
            <a:r>
              <a:rPr>
                <a:solidFill>
                  <a:srgbClr val="64748B"/>
                </a:solidFill>
              </a:rPr>
              <a:t>Instant client-side search by Quote ID, carrier name, origin city, or destination postal code.</a:t>
            </a:r>
          </a:p>
          <a:p>
            <a:pPr>
              <a:spcAft>
                <a:spcPts val="500"/>
              </a:spcAft>
              <a:defRPr sz="1050"/>
            </a:pPr>
            <a:r>
              <a:rPr b="1">
                <a:solidFill>
                  <a:srgbClr val="0F172A"/>
                </a:solidFill>
              </a:rPr>
              <a:t>Sort by Rate: </a:t>
            </a:r>
            <a:r>
              <a:rPr>
                <a:solidFill>
                  <a:srgbClr val="64748B"/>
                </a:solidFill>
              </a:rPr>
              <a:t>Interactive dropdown to sort archived quotes by total rate (High-to-Low or Low-to-High).</a:t>
            </a:r>
          </a:p>
          <a:p>
            <a:pPr>
              <a:spcAft>
                <a:spcPts val="500"/>
              </a:spcAft>
              <a:defRPr sz="1050"/>
            </a:pPr>
            <a:r>
              <a:rPr b="1">
                <a:solidFill>
                  <a:srgbClr val="0F172A"/>
                </a:solidFill>
              </a:rPr>
              <a:t>Coordinate Retention: </a:t>
            </a:r>
            <a:r>
              <a:rPr>
                <a:solidFill>
                  <a:srgbClr val="64748B"/>
                </a:solidFill>
              </a:rPr>
              <a:t>Historical records retain cell references and applied accessorial details indefinitely.</a:t>
            </a:r>
          </a:p>
          <a:p>
            <a:pPr>
              <a:spcAft>
                <a:spcPts val="500"/>
              </a:spcAft>
              <a:defRPr sz="1050"/>
            </a:pPr>
            <a:r>
              <a:rPr b="1">
                <a:solidFill>
                  <a:srgbClr val="0F172A"/>
                </a:solidFill>
              </a:rPr>
              <a:t>Excel Workbook Export: </a:t>
            </a:r>
            <a:r>
              <a:rPr>
                <a:solidFill>
                  <a:srgbClr val="64748B"/>
                </a:solidFill>
              </a:rPr>
              <a:t>1-click 'Export to Excel' streams formatted .xlsx spreadsheets for accounting or client reporting.</a:t>
            </a:r>
          </a:p>
        </p:txBody>
      </p:sp>
      <p:sp>
        <p:nvSpPr>
          <p:cNvPr id="10" name="Rounded Rectangle 9"/>
          <p:cNvSpPr/>
          <p:nvPr/>
        </p:nvSpPr>
        <p:spPr>
          <a:xfrm>
            <a:off x="6217920" y="1645920"/>
            <a:ext cx="52120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664208"/>
            <a:ext cx="5175504" cy="731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828800"/>
            <a:ext cx="4754880" cy="4251960"/>
          </a:xfrm>
          <a:prstGeom prst="rect">
            <a:avLst/>
          </a:prstGeom>
          <a:noFill/>
        </p:spPr>
        <p:txBody>
          <a:bodyPr wrap="square" lIns="0" tIns="0" rIns="0" bIns="0">
            <a:spAutoFit/>
          </a:bodyPr>
          <a:lstStyle/>
          <a:p>
            <a:pPr>
              <a:spcAft>
                <a:spcPts val="800"/>
              </a:spcAft>
              <a:defRPr sz="1400" b="1">
                <a:solidFill>
                  <a:srgbClr val="0F172A"/>
                </a:solidFill>
              </a:defRPr>
            </a:pPr>
            <a:r>
              <a:t>Account &amp; Preferences ( /console/settings )</a:t>
            </a:r>
          </a:p>
          <a:p>
            <a:pPr>
              <a:spcAft>
                <a:spcPts val="500"/>
              </a:spcAft>
              <a:defRPr sz="1050"/>
            </a:pPr>
            <a:r>
              <a:rPr b="1">
                <a:solidFill>
                  <a:srgbClr val="0F172A"/>
                </a:solidFill>
              </a:rPr>
              <a:t>Dynamic Broker Markup: </a:t>
            </a:r>
            <a:r>
              <a:rPr>
                <a:solidFill>
                  <a:srgbClr val="64748B"/>
                </a:solidFill>
              </a:rPr>
              <a:t>Set default margin markups (e.g. +10% or +15%) applied dynamically to base carrier freight.</a:t>
            </a:r>
          </a:p>
          <a:p>
            <a:pPr>
              <a:spcAft>
                <a:spcPts val="500"/>
              </a:spcAft>
              <a:defRPr sz="1050"/>
            </a:pPr>
            <a:r>
              <a:rPr b="1">
                <a:solidFill>
                  <a:srgbClr val="0F172A"/>
                </a:solidFill>
              </a:rPr>
              <a:t>Currency &amp; Units Standards: </a:t>
            </a:r>
            <a:r>
              <a:rPr>
                <a:solidFill>
                  <a:srgbClr val="64748B"/>
                </a:solidFill>
              </a:rPr>
              <a:t>Toggle between CAD and USD, and switch weight units between pounds (lbs) and kilograms (kg).</a:t>
            </a:r>
          </a:p>
          <a:p>
            <a:pPr>
              <a:spcAft>
                <a:spcPts val="500"/>
              </a:spcAft>
              <a:defRPr sz="1050"/>
            </a:pPr>
            <a:r>
              <a:rPr b="1">
                <a:solidFill>
                  <a:srgbClr val="0F172A"/>
                </a:solidFill>
              </a:rPr>
              <a:t>Origin Dispatch Presets: </a:t>
            </a:r>
            <a:r>
              <a:rPr>
                <a:solidFill>
                  <a:srgbClr val="64748B"/>
                </a:solidFill>
              </a:rPr>
              <a:t>Configure default dispatch hubs (e.g. Toronto M5V 2T6 or Montreal H3B 1A1) for accelerated entry.</a:t>
            </a:r>
          </a:p>
          <a:p>
            <a:pPr>
              <a:spcAft>
                <a:spcPts val="500"/>
              </a:spcAft>
              <a:defRPr sz="1050"/>
            </a:pPr>
            <a:r>
              <a:rPr b="1">
                <a:solidFill>
                  <a:srgbClr val="0F172A"/>
                </a:solidFill>
              </a:rPr>
              <a:t>Fuel Index Integration: </a:t>
            </a:r>
            <a:r>
              <a:rPr>
                <a:solidFill>
                  <a:srgbClr val="64748B"/>
                </a:solidFill>
              </a:rPr>
              <a:t>Select default diesel benchmark indices (OTA Standard, Atlantic, Western, or Custom broker percentage).</a:t>
            </a:r>
          </a:p>
          <a:p>
            <a:pPr>
              <a:spcAft>
                <a:spcPts val="500"/>
              </a:spcAft>
              <a:defRPr sz="1050"/>
            </a:pPr>
            <a:r>
              <a:rPr b="1">
                <a:solidFill>
                  <a:srgbClr val="0F172A"/>
                </a:solidFill>
              </a:rPr>
              <a:t>Brokerage Branding: </a:t>
            </a:r>
            <a:r>
              <a:rPr>
                <a:solidFill>
                  <a:srgbClr val="64748B"/>
                </a:solidFill>
              </a:rPr>
              <a:t>Customize broker company name and dispatcher email shown on generated client proposals.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FUNCTIONAL CAPABILITIES</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Rating Intelligence: 100% Deterministic Engine (Zero AI Hallucinations)</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10/18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3346704"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1. Pure Mathematical Math</a:t>
            </a:r>
          </a:p>
          <a:p>
            <a:pPr>
              <a:spcAft>
                <a:spcPts val="500"/>
              </a:spcAft>
              <a:defRPr sz="1050"/>
            </a:pPr>
            <a:r>
              <a:rPr b="1">
                <a:solidFill>
                  <a:srgbClr val="0F172A"/>
                </a:solidFill>
              </a:rPr>
              <a:t>Rule 8 Compliance: </a:t>
            </a:r>
            <a:r>
              <a:rPr>
                <a:solidFill>
                  <a:srgbClr val="64748B"/>
                </a:solidFill>
              </a:rPr>
              <a:t>Pricing is calculated strictly by deterministic Python algorithms—never generative LLM guesses.</a:t>
            </a:r>
          </a:p>
          <a:p>
            <a:pPr>
              <a:spcAft>
                <a:spcPts val="500"/>
              </a:spcAft>
              <a:defRPr sz="1050"/>
            </a:pPr>
            <a:r>
              <a:rPr b="1">
                <a:solidFill>
                  <a:srgbClr val="0F172A"/>
                </a:solidFill>
              </a:rPr>
              <a:t>Rule 14 Idempotency: </a:t>
            </a:r>
            <a:r>
              <a:rPr>
                <a:solidFill>
                  <a:srgbClr val="64748B"/>
                </a:solidFill>
              </a:rPr>
              <a:t>Identical inputs against the same carrier tariff will always yield the exact same penny-perfect total.</a:t>
            </a:r>
          </a:p>
          <a:p>
            <a:pPr>
              <a:spcAft>
                <a:spcPts val="500"/>
              </a:spcAft>
              <a:defRPr sz="1050"/>
            </a:pPr>
            <a:r>
              <a:rPr b="1">
                <a:solidFill>
                  <a:srgbClr val="0F172A"/>
                </a:solidFill>
              </a:rPr>
              <a:t>Final-Step Rounding (Rule 15): </a:t>
            </a:r>
            <a:r>
              <a:rPr>
                <a:solidFill>
                  <a:srgbClr val="64748B"/>
                </a:solidFill>
              </a:rPr>
              <a:t>All intermediate fractions are preserved; final half-up rounding to 2 decimals occurs at the final step.</a:t>
            </a:r>
          </a:p>
        </p:txBody>
      </p:sp>
      <p:sp>
        <p:nvSpPr>
          <p:cNvPr id="10" name="Rounded Rectangle 9"/>
          <p:cNvSpPr/>
          <p:nvPr/>
        </p:nvSpPr>
        <p:spPr>
          <a:xfrm>
            <a:off x="43891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664208"/>
            <a:ext cx="3346704"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2. CWT &amp; Minimum Floors</a:t>
            </a:r>
          </a:p>
          <a:p>
            <a:pPr>
              <a:spcAft>
                <a:spcPts val="500"/>
              </a:spcAft>
              <a:defRPr sz="1050"/>
            </a:pPr>
            <a:r>
              <a:rPr b="1">
                <a:solidFill>
                  <a:srgbClr val="0F172A"/>
                </a:solidFill>
              </a:rPr>
              <a:t>Hundredweight Scaling: </a:t>
            </a:r>
            <a:r>
              <a:rPr>
                <a:solidFill>
                  <a:srgbClr val="64748B"/>
                </a:solidFill>
              </a:rPr>
              <a:t>Calculates base freight: (Weight / 100) × CWT Rate across brackets (LTL, 5C, 1M, 2M, 5M, 10M).</a:t>
            </a:r>
          </a:p>
          <a:p>
            <a:pPr>
              <a:spcAft>
                <a:spcPts val="500"/>
              </a:spcAft>
              <a:defRPr sz="1050"/>
            </a:pPr>
            <a:r>
              <a:rPr b="1">
                <a:solidFill>
                  <a:srgbClr val="0F172A"/>
                </a:solidFill>
              </a:rPr>
              <a:t>Rule 12 Minimum Floors: </a:t>
            </a:r>
            <a:r>
              <a:rPr>
                <a:solidFill>
                  <a:srgbClr val="64748B"/>
                </a:solidFill>
              </a:rPr>
              <a:t>Compares calculated base charge against carrier's lane minimum floor and bills the higher amount.</a:t>
            </a:r>
          </a:p>
          <a:p>
            <a:pPr>
              <a:spcAft>
                <a:spcPts val="500"/>
              </a:spcAft>
              <a:defRPr sz="1050"/>
            </a:pPr>
            <a:r>
              <a:rPr b="1">
                <a:solidFill>
                  <a:srgbClr val="0F172A"/>
                </a:solidFill>
              </a:rPr>
              <a:t>Audit Transparency: </a:t>
            </a:r>
            <a:r>
              <a:rPr>
                <a:solidFill>
                  <a:srgbClr val="64748B"/>
                </a:solidFill>
              </a:rPr>
              <a:t>When a minimum floor is applied, the audit log clearly flags 'min_charge_adjustment'.</a:t>
            </a:r>
          </a:p>
        </p:txBody>
      </p:sp>
      <p:sp>
        <p:nvSpPr>
          <p:cNvPr id="13" name="Rounded Rectangle 12"/>
          <p:cNvSpPr/>
          <p:nvPr/>
        </p:nvSpPr>
        <p:spPr>
          <a:xfrm>
            <a:off x="80467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664208"/>
            <a:ext cx="3346704"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3. Dimensional Weight (DIM)</a:t>
            </a:r>
          </a:p>
          <a:p>
            <a:pPr>
              <a:spcAft>
                <a:spcPts val="500"/>
              </a:spcAft>
              <a:defRPr sz="1050"/>
            </a:pPr>
            <a:r>
              <a:rPr b="1">
                <a:solidFill>
                  <a:srgbClr val="0F172A"/>
                </a:solidFill>
              </a:rPr>
              <a:t>Rule 9 Divisor Math: </a:t>
            </a:r>
            <a:r>
              <a:rPr>
                <a:solidFill>
                  <a:srgbClr val="64748B"/>
                </a:solidFill>
              </a:rPr>
              <a:t>Evaluates cubic dimensions using carrier divisors: (L × W × H) / 139 (or 166 / 250).</a:t>
            </a:r>
          </a:p>
          <a:p>
            <a:pPr>
              <a:spcAft>
                <a:spcPts val="500"/>
              </a:spcAft>
              <a:defRPr sz="1050"/>
            </a:pPr>
            <a:r>
              <a:rPr b="1">
                <a:solidFill>
                  <a:srgbClr val="0F172A"/>
                </a:solidFill>
              </a:rPr>
              <a:t>PCF Density Rules: </a:t>
            </a:r>
            <a:r>
              <a:rPr>
                <a:solidFill>
                  <a:srgbClr val="64748B"/>
                </a:solidFill>
              </a:rPr>
              <a:t>Supports Pounds Per Cubic Foot (PCF) density rating for high-cube, low-density cargo.</a:t>
            </a:r>
          </a:p>
          <a:p>
            <a:pPr>
              <a:spcAft>
                <a:spcPts val="500"/>
              </a:spcAft>
              <a:defRPr sz="1050"/>
            </a:pPr>
            <a:r>
              <a:rPr b="1">
                <a:solidFill>
                  <a:srgbClr val="0F172A"/>
                </a:solidFill>
              </a:rPr>
              <a:t>Bill on Greater: </a:t>
            </a:r>
            <a:r>
              <a:rPr>
                <a:solidFill>
                  <a:srgbClr val="64748B"/>
                </a:solidFill>
              </a:rPr>
              <a:t>Engine compares actual scale weight vs. dimensional weight and bills on whichever is greater.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FUNCTIONAL CAPABILITIES</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Geographic Intelligence: Canadian Postal FSA Resolver</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11/18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5084064"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663440" cy="4251960"/>
          </a:xfrm>
          <a:prstGeom prst="rect">
            <a:avLst/>
          </a:prstGeom>
          <a:noFill/>
        </p:spPr>
        <p:txBody>
          <a:bodyPr wrap="square" lIns="0" tIns="0" rIns="0" bIns="0">
            <a:spAutoFit/>
          </a:bodyPr>
          <a:lstStyle/>
          <a:p>
            <a:pPr>
              <a:spcAft>
                <a:spcPts val="800"/>
              </a:spcAft>
              <a:defRPr sz="1400" b="1">
                <a:solidFill>
                  <a:srgbClr val="0F172A"/>
                </a:solidFill>
              </a:defRPr>
            </a:pPr>
            <a:r>
              <a:t>1,600+ Canadian Postal FSAs Mapped</a:t>
            </a:r>
          </a:p>
          <a:p>
            <a:pPr>
              <a:spcAft>
                <a:spcPts val="500"/>
              </a:spcAft>
              <a:defRPr sz="1050"/>
            </a:pPr>
            <a:r>
              <a:rPr b="1">
                <a:solidFill>
                  <a:srgbClr val="0F172A"/>
                </a:solidFill>
              </a:rPr>
              <a:t>Forward Sortation Area (FSA): </a:t>
            </a:r>
            <a:r>
              <a:rPr>
                <a:solidFill>
                  <a:srgbClr val="64748B"/>
                </a:solidFill>
              </a:rPr>
              <a:t>Resolves first 3 characters of any Canadian postal code to official carrier terminal zones.</a:t>
            </a:r>
          </a:p>
          <a:p>
            <a:pPr>
              <a:spcAft>
                <a:spcPts val="500"/>
              </a:spcAft>
              <a:defRPr sz="1050"/>
            </a:pPr>
            <a:r>
              <a:rPr b="1">
                <a:solidFill>
                  <a:srgbClr val="0F172A"/>
                </a:solidFill>
              </a:rPr>
              <a:t>Downtown Hubs: </a:t>
            </a:r>
            <a:r>
              <a:rPr>
                <a:solidFill>
                  <a:srgbClr val="64748B"/>
                </a:solidFill>
              </a:rPr>
              <a:t>M5V 2T6 resolves to TORONTO, ON (Zone: ON-TOR) • H3B 1A1 resolves to MONTREAL, QC (Zone: QC-MTL).</a:t>
            </a:r>
          </a:p>
          <a:p>
            <a:pPr>
              <a:spcAft>
                <a:spcPts val="500"/>
              </a:spcAft>
              <a:defRPr sz="1050"/>
            </a:pPr>
            <a:r>
              <a:rPr b="1">
                <a:solidFill>
                  <a:srgbClr val="0F172A"/>
                </a:solidFill>
              </a:rPr>
              <a:t>Western Hubs: </a:t>
            </a:r>
            <a:r>
              <a:rPr>
                <a:solidFill>
                  <a:srgbClr val="64748B"/>
                </a:solidFill>
              </a:rPr>
              <a:t>T2P 1J9 resolves to CALGARY, AB (Zone: AB-CAL) • V6B 2W9 resolves to VANCOUVER, BC (Zone: BC-VAN).</a:t>
            </a:r>
          </a:p>
          <a:p>
            <a:pPr>
              <a:spcAft>
                <a:spcPts val="500"/>
              </a:spcAft>
              <a:defRPr sz="1050"/>
            </a:pPr>
            <a:r>
              <a:rPr b="1">
                <a:solidFill>
                  <a:srgbClr val="0F172A"/>
                </a:solidFill>
              </a:rPr>
              <a:t>Dorval West Island Cargo Hub: </a:t>
            </a:r>
            <a:r>
              <a:rPr>
                <a:solidFill>
                  <a:srgbClr val="64748B"/>
                </a:solidFill>
              </a:rPr>
              <a:t>H9P 1K2 resolves to Dorval cargo terminal with regional drayage rules.</a:t>
            </a:r>
          </a:p>
          <a:p>
            <a:pPr>
              <a:spcAft>
                <a:spcPts val="500"/>
              </a:spcAft>
              <a:defRPr sz="1050"/>
            </a:pPr>
            <a:r>
              <a:rPr b="1">
                <a:solidFill>
                  <a:srgbClr val="0F172A"/>
                </a:solidFill>
              </a:rPr>
              <a:t>Rural Territory Detection: </a:t>
            </a:r>
            <a:r>
              <a:rPr>
                <a:solidFill>
                  <a:srgbClr val="64748B"/>
                </a:solidFill>
              </a:rPr>
              <a:t>Flags remote or rural postal codes (e.g. secondary digit '0') for carrier beyond-charge surcharges.</a:t>
            </a:r>
          </a:p>
        </p:txBody>
      </p:sp>
      <p:sp>
        <p:nvSpPr>
          <p:cNvPr id="10" name="Rounded Rectangle 9"/>
          <p:cNvSpPr/>
          <p:nvPr/>
        </p:nvSpPr>
        <p:spPr>
          <a:xfrm>
            <a:off x="6217920" y="1645920"/>
            <a:ext cx="52120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664208"/>
            <a:ext cx="5175504"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828800"/>
            <a:ext cx="4754880" cy="4251960"/>
          </a:xfrm>
          <a:prstGeom prst="rect">
            <a:avLst/>
          </a:prstGeom>
          <a:noFill/>
        </p:spPr>
        <p:txBody>
          <a:bodyPr wrap="square" lIns="0" tIns="0" rIns="0" bIns="0">
            <a:spAutoFit/>
          </a:bodyPr>
          <a:lstStyle/>
          <a:p>
            <a:pPr>
              <a:spcAft>
                <a:spcPts val="800"/>
              </a:spcAft>
              <a:defRPr sz="1400" b="1">
                <a:solidFill>
                  <a:srgbClr val="0F172A"/>
                </a:solidFill>
              </a:defRPr>
            </a:pPr>
            <a:r>
              <a:t>Lane Corridors &amp; Carrier Zone Normalization</a:t>
            </a:r>
          </a:p>
          <a:p>
            <a:pPr>
              <a:spcAft>
                <a:spcPts val="500"/>
              </a:spcAft>
              <a:defRPr sz="1050"/>
            </a:pPr>
            <a:r>
              <a:rPr b="1">
                <a:solidFill>
                  <a:srgbClr val="0F172A"/>
                </a:solidFill>
              </a:rPr>
              <a:t>Freight Corridor Mapping: </a:t>
            </a:r>
            <a:r>
              <a:rPr>
                <a:solidFill>
                  <a:srgbClr val="64748B"/>
                </a:solidFill>
              </a:rPr>
              <a:t>Automatically classifies inter-provincial lanes into standard corridors (ON-QC, ON-AB, BC-AB).</a:t>
            </a:r>
          </a:p>
          <a:p>
            <a:pPr>
              <a:spcAft>
                <a:spcPts val="500"/>
              </a:spcAft>
              <a:defRPr sz="1050"/>
            </a:pPr>
            <a:r>
              <a:rPr b="1">
                <a:solidFill>
                  <a:srgbClr val="0F172A"/>
                </a:solidFill>
              </a:rPr>
              <a:t>Carrier-Specific Zones (Rule 10): </a:t>
            </a:r>
            <a:r>
              <a:rPr>
                <a:solidFill>
                  <a:srgbClr val="64748B"/>
                </a:solidFill>
              </a:rPr>
              <a:t>Maps origin/destination into each individual carrier's proprietary zone scheme, not generic estimates.</a:t>
            </a:r>
          </a:p>
          <a:p>
            <a:pPr>
              <a:spcAft>
                <a:spcPts val="500"/>
              </a:spcAft>
              <a:defRPr sz="1050"/>
            </a:pPr>
            <a:r>
              <a:rPr b="1">
                <a:solidFill>
                  <a:srgbClr val="0F172A"/>
                </a:solidFill>
              </a:rPr>
              <a:t>Dedicated REST APIs: </a:t>
            </a:r>
            <a:r>
              <a:rPr>
                <a:solidFill>
                  <a:srgbClr val="64748B"/>
                </a:solidFill>
              </a:rPr>
              <a:t>Exposes GET /api/geo/resolve-fsa and GET /api/geo/resolve-lane for third-party developer integration.</a:t>
            </a:r>
          </a:p>
          <a:p>
            <a:pPr>
              <a:spcAft>
                <a:spcPts val="500"/>
              </a:spcAft>
              <a:defRPr sz="1050"/>
            </a:pPr>
            <a:r>
              <a:rPr b="1">
                <a:solidFill>
                  <a:srgbClr val="0F172A"/>
                </a:solidFill>
              </a:rPr>
              <a:t>Sub-Millisecond Lookup: </a:t>
            </a:r>
            <a:r>
              <a:rPr>
                <a:solidFill>
                  <a:srgbClr val="64748B"/>
                </a:solidFill>
              </a:rPr>
              <a:t>In-memory indexed database delivers location resolution in under 2 milliseconds.</a:t>
            </a:r>
          </a:p>
          <a:p>
            <a:pPr>
              <a:spcAft>
                <a:spcPts val="500"/>
              </a:spcAft>
              <a:defRPr sz="1050"/>
            </a:pPr>
            <a:r>
              <a:rPr b="1">
                <a:solidFill>
                  <a:srgbClr val="0F172A"/>
                </a:solidFill>
              </a:rPr>
              <a:t>Error Prevention (Rule 25): </a:t>
            </a:r>
            <a:r>
              <a:rPr>
                <a:solidFill>
                  <a:srgbClr val="64748B"/>
                </a:solidFill>
              </a:rPr>
              <a:t>Rejects unresolvable postal codes with clear HTTP 400 validation prompts.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FUNCTIONAL CAPABILITIES</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Pricing Optimization: SMC3 CzarLite &amp; Deficit Weight Rating</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12/18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5084064"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663440" cy="4251960"/>
          </a:xfrm>
          <a:prstGeom prst="rect">
            <a:avLst/>
          </a:prstGeom>
          <a:noFill/>
        </p:spPr>
        <p:txBody>
          <a:bodyPr wrap="square" lIns="0" tIns="0" rIns="0" bIns="0">
            <a:spAutoFit/>
          </a:bodyPr>
          <a:lstStyle/>
          <a:p>
            <a:pPr>
              <a:spcAft>
                <a:spcPts val="800"/>
              </a:spcAft>
              <a:defRPr sz="1400" b="1">
                <a:solidFill>
                  <a:srgbClr val="0F172A"/>
                </a:solidFill>
              </a:defRPr>
            </a:pPr>
            <a:r>
              <a:t>The Deficit Rating Principle</a:t>
            </a:r>
          </a:p>
          <a:p>
            <a:pPr>
              <a:spcAft>
                <a:spcPts val="500"/>
              </a:spcAft>
              <a:defRPr sz="1050"/>
            </a:pPr>
            <a:r>
              <a:rPr b="1">
                <a:solidFill>
                  <a:srgbClr val="0F172A"/>
                </a:solidFill>
              </a:rPr>
              <a:t>The Freight Anomaly: </a:t>
            </a:r>
            <a:r>
              <a:rPr>
                <a:solidFill>
                  <a:srgbClr val="64748B"/>
                </a:solidFill>
              </a:rPr>
              <a:t>In standard CWT tier pricing, shipments near weight break thresholds can cost more than heavier shipments.</a:t>
            </a:r>
          </a:p>
          <a:p>
            <a:pPr>
              <a:spcAft>
                <a:spcPts val="500"/>
              </a:spcAft>
              <a:defRPr sz="1050"/>
            </a:pPr>
            <a:r>
              <a:rPr b="1">
                <a:solidFill>
                  <a:srgbClr val="0F172A"/>
                </a:solidFill>
              </a:rPr>
              <a:t>Automated Deficit Bumping: </a:t>
            </a:r>
            <a:r>
              <a:rPr>
                <a:solidFill>
                  <a:srgbClr val="64748B"/>
                </a:solidFill>
              </a:rPr>
              <a:t>The engine automatically tests whether bumping shipment weight to the minimum of the next bracket yields a lower price.</a:t>
            </a:r>
          </a:p>
          <a:p>
            <a:pPr>
              <a:spcAft>
                <a:spcPts val="500"/>
              </a:spcAft>
              <a:defRPr sz="1050"/>
            </a:pPr>
            <a:r>
              <a:rPr b="1">
                <a:solidFill>
                  <a:srgbClr val="0F172A"/>
                </a:solidFill>
              </a:rPr>
              <a:t>Real-World Math Example: </a:t>
            </a:r>
            <a:r>
              <a:rPr>
                <a:solidFill>
                  <a:srgbClr val="64748B"/>
                </a:solidFill>
              </a:rPr>
              <a:t>A shipment weighs 880 lbs on Toronto → Montreal:</a:t>
            </a:r>
          </a:p>
          <a:p>
            <a:pPr>
              <a:spcAft>
                <a:spcPts val="500"/>
              </a:spcAft>
              <a:defRPr sz="1050"/>
            </a:pPr>
            <a:r>
              <a:rPr b="1">
                <a:solidFill>
                  <a:srgbClr val="0F172A"/>
                </a:solidFill>
              </a:rPr>
              <a:t>• Natural Tier (5C @ $42.00/CWT): </a:t>
            </a:r>
            <a:r>
              <a:rPr>
                <a:solidFill>
                  <a:srgbClr val="64748B"/>
                </a:solidFill>
              </a:rPr>
              <a:t>(880 / 100) × $42.00 = $369.60 base charge.</a:t>
            </a:r>
          </a:p>
          <a:p>
            <a:pPr>
              <a:spcAft>
                <a:spcPts val="500"/>
              </a:spcAft>
              <a:defRPr sz="1050"/>
            </a:pPr>
            <a:r>
              <a:rPr b="1">
                <a:solidFill>
                  <a:srgbClr val="0F172A"/>
                </a:solidFill>
              </a:rPr>
              <a:t>• Deficit Bumped (1M @ $34.00/CWT): </a:t>
            </a:r>
            <a:r>
              <a:rPr>
                <a:solidFill>
                  <a:srgbClr val="64748B"/>
                </a:solidFill>
              </a:rPr>
              <a:t>(1,000 / 100) × $34.00 = $340.00 base charge.</a:t>
            </a:r>
          </a:p>
          <a:p>
            <a:pPr>
              <a:spcAft>
                <a:spcPts val="500"/>
              </a:spcAft>
              <a:defRPr sz="1050"/>
            </a:pPr>
            <a:r>
              <a:rPr b="1">
                <a:solidFill>
                  <a:srgbClr val="0F172A"/>
                </a:solidFill>
              </a:rPr>
              <a:t>Instant Broker Savings: </a:t>
            </a:r>
            <a:r>
              <a:rPr>
                <a:solidFill>
                  <a:srgbClr val="64748B"/>
                </a:solidFill>
              </a:rPr>
              <a:t>Direct client savings of $29.60 (Deficit weight: 120 lbs) applied automatically!</a:t>
            </a:r>
          </a:p>
        </p:txBody>
      </p:sp>
      <p:sp>
        <p:nvSpPr>
          <p:cNvPr id="10" name="Rounded Rectangle 9"/>
          <p:cNvSpPr/>
          <p:nvPr/>
        </p:nvSpPr>
        <p:spPr>
          <a:xfrm>
            <a:off x="6217920" y="1645920"/>
            <a:ext cx="52120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664208"/>
            <a:ext cx="5175504" cy="731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828800"/>
            <a:ext cx="4754880" cy="4251960"/>
          </a:xfrm>
          <a:prstGeom prst="rect">
            <a:avLst/>
          </a:prstGeom>
          <a:noFill/>
        </p:spPr>
        <p:txBody>
          <a:bodyPr wrap="square" lIns="0" tIns="0" rIns="0" bIns="0">
            <a:spAutoFit/>
          </a:bodyPr>
          <a:lstStyle/>
          <a:p>
            <a:pPr>
              <a:spcAft>
                <a:spcPts val="800"/>
              </a:spcAft>
              <a:defRPr sz="1400" b="1">
                <a:solidFill>
                  <a:srgbClr val="0F172A"/>
                </a:solidFill>
              </a:defRPr>
            </a:pPr>
            <a:r>
              <a:t>Engine Implementation &amp; Transparency</a:t>
            </a:r>
          </a:p>
          <a:p>
            <a:pPr>
              <a:spcAft>
                <a:spcPts val="500"/>
              </a:spcAft>
              <a:defRPr sz="1050"/>
            </a:pPr>
            <a:r>
              <a:rPr b="1">
                <a:solidFill>
                  <a:srgbClr val="0F172A"/>
                </a:solidFill>
              </a:rPr>
              <a:t>Industry Standard Compliance: </a:t>
            </a:r>
            <a:r>
              <a:rPr>
                <a:solidFill>
                  <a:srgbClr val="64748B"/>
                </a:solidFill>
              </a:rPr>
              <a:t>Implements SMC3 CzarLite and Canadian freight rating deficit rules.</a:t>
            </a:r>
          </a:p>
          <a:p>
            <a:pPr>
              <a:spcAft>
                <a:spcPts val="500"/>
              </a:spcAft>
              <a:defRPr sz="1050"/>
            </a:pPr>
            <a:r>
              <a:rPr b="1">
                <a:solidFill>
                  <a:srgbClr val="0F172A"/>
                </a:solidFill>
              </a:rPr>
              <a:t>Multi-Tier Evaluation: </a:t>
            </a:r>
            <a:r>
              <a:rPr>
                <a:solidFill>
                  <a:srgbClr val="64748B"/>
                </a:solidFill>
              </a:rPr>
              <a:t>Evaluates all qualifying weight brackets (MIN, 5C, 1M, 2M, 5M, 10M) simultaneously.</a:t>
            </a:r>
          </a:p>
          <a:p>
            <a:pPr>
              <a:spcAft>
                <a:spcPts val="500"/>
              </a:spcAft>
              <a:defRPr sz="1050"/>
            </a:pPr>
            <a:r>
              <a:rPr b="1">
                <a:solidFill>
                  <a:srgbClr val="0F172A"/>
                </a:solidFill>
              </a:rPr>
              <a:t>Audit Trail Annotation: </a:t>
            </a:r>
            <a:r>
              <a:rPr>
                <a:solidFill>
                  <a:srgbClr val="64748B"/>
                </a:solidFill>
              </a:rPr>
              <a:t>Flags calculated quotes with 'is_deficit_rated: True' and records exact dollar savings achieved.</a:t>
            </a:r>
          </a:p>
          <a:p>
            <a:pPr>
              <a:spcAft>
                <a:spcPts val="500"/>
              </a:spcAft>
              <a:defRPr sz="1050"/>
            </a:pPr>
            <a:r>
              <a:rPr b="1">
                <a:solidFill>
                  <a:srgbClr val="0F172A"/>
                </a:solidFill>
              </a:rPr>
              <a:t>Broker Competitive Advantage: </a:t>
            </a:r>
            <a:r>
              <a:rPr>
                <a:solidFill>
                  <a:srgbClr val="64748B"/>
                </a:solidFill>
              </a:rPr>
              <a:t>Enables brokers to offer lower rates to shippers while protecting healthy margins.</a:t>
            </a:r>
          </a:p>
          <a:p>
            <a:pPr>
              <a:spcAft>
                <a:spcPts val="500"/>
              </a:spcAft>
              <a:defRPr sz="1050"/>
            </a:pPr>
            <a:r>
              <a:rPr b="1">
                <a:solidFill>
                  <a:srgbClr val="0F172A"/>
                </a:solidFill>
              </a:rPr>
              <a:t>Zero Manual Calculations: </a:t>
            </a:r>
            <a:r>
              <a:rPr>
                <a:solidFill>
                  <a:srgbClr val="64748B"/>
                </a:solidFill>
              </a:rPr>
              <a:t>Eliminates the need for dispatchers to maintain complex deficit calculation cheat-sheets.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FUNCTIONAL CAPABILITIES</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Surcharge Intelligence: Weekly Fuel Surcharge (FSC) Index Manager</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13/18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5084064"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663440" cy="4251960"/>
          </a:xfrm>
          <a:prstGeom prst="rect">
            <a:avLst/>
          </a:prstGeom>
          <a:noFill/>
        </p:spPr>
        <p:txBody>
          <a:bodyPr wrap="square" lIns="0" tIns="0" rIns="0" bIns="0">
            <a:spAutoFit/>
          </a:bodyPr>
          <a:lstStyle/>
          <a:p>
            <a:pPr>
              <a:spcAft>
                <a:spcPts val="800"/>
              </a:spcAft>
              <a:defRPr sz="1400" b="1">
                <a:solidFill>
                  <a:srgbClr val="0F172A"/>
                </a:solidFill>
              </a:defRPr>
            </a:pPr>
            <a:r>
              <a:t>Canadian Diesel Benchmark Integration</a:t>
            </a:r>
          </a:p>
          <a:p>
            <a:pPr>
              <a:spcAft>
                <a:spcPts val="500"/>
              </a:spcAft>
              <a:defRPr sz="1050"/>
            </a:pPr>
            <a:r>
              <a:rPr b="1">
                <a:solidFill>
                  <a:srgbClr val="0F172A"/>
                </a:solidFill>
              </a:rPr>
              <a:t>Dynamic Weekly FSC Updates: </a:t>
            </a:r>
            <a:r>
              <a:rPr>
                <a:solidFill>
                  <a:srgbClr val="64748B"/>
                </a:solidFill>
              </a:rPr>
              <a:t>Tracks fluctuating diesel prices without requiring manual edits to underlying carrier tariffs.</a:t>
            </a:r>
          </a:p>
          <a:p>
            <a:pPr>
              <a:spcAft>
                <a:spcPts val="500"/>
              </a:spcAft>
              <a:defRPr sz="1050"/>
            </a:pPr>
            <a:r>
              <a:rPr b="1">
                <a:solidFill>
                  <a:srgbClr val="0F172A"/>
                </a:solidFill>
              </a:rPr>
              <a:t>Ontario Trucking Association (OTA): </a:t>
            </a:r>
            <a:r>
              <a:rPr>
                <a:solidFill>
                  <a:srgbClr val="64748B"/>
                </a:solidFill>
              </a:rPr>
              <a:t>Pre-seeded with OTA LTL Standard benchmark index (~31.50% FSC).</a:t>
            </a:r>
          </a:p>
          <a:p>
            <a:pPr>
              <a:spcAft>
                <a:spcPts val="500"/>
              </a:spcAft>
              <a:defRPr sz="1050"/>
            </a:pPr>
            <a:r>
              <a:rPr b="1">
                <a:solidFill>
                  <a:srgbClr val="0F172A"/>
                </a:solidFill>
              </a:rPr>
              <a:t>Regional Canadian Indices: </a:t>
            </a:r>
            <a:r>
              <a:rPr>
                <a:solidFill>
                  <a:srgbClr val="64748B"/>
                </a:solidFill>
              </a:rPr>
              <a:t>Supports Atlantic Canada LTL benchmarks and Western Canada corridors.</a:t>
            </a:r>
          </a:p>
          <a:p>
            <a:pPr>
              <a:spcAft>
                <a:spcPts val="500"/>
              </a:spcAft>
              <a:defRPr sz="1050"/>
            </a:pPr>
            <a:r>
              <a:rPr b="1">
                <a:solidFill>
                  <a:srgbClr val="0F172A"/>
                </a:solidFill>
              </a:rPr>
              <a:t>Custom Broker Overrides: </a:t>
            </a:r>
            <a:r>
              <a:rPr>
                <a:solidFill>
                  <a:srgbClr val="64748B"/>
                </a:solidFill>
              </a:rPr>
              <a:t>Brokers can configure a custom fuel surcharge percentage (e.g. 35.00%) per tenant.</a:t>
            </a:r>
          </a:p>
          <a:p>
            <a:pPr>
              <a:spcAft>
                <a:spcPts val="500"/>
              </a:spcAft>
              <a:defRPr sz="1050"/>
            </a:pPr>
            <a:r>
              <a:rPr b="1">
                <a:solidFill>
                  <a:srgbClr val="0F172A"/>
                </a:solidFill>
              </a:rPr>
              <a:t>Central Benchmark API: </a:t>
            </a:r>
            <a:r>
              <a:rPr>
                <a:solidFill>
                  <a:srgbClr val="64748B"/>
                </a:solidFill>
              </a:rPr>
              <a:t>Endpoints at /api/fuel-indices/benchmarks and /api/fuel-indices/settings manage live fuel tables.</a:t>
            </a:r>
          </a:p>
        </p:txBody>
      </p:sp>
      <p:sp>
        <p:nvSpPr>
          <p:cNvPr id="10" name="Rounded Rectangle 9"/>
          <p:cNvSpPr/>
          <p:nvPr/>
        </p:nvSpPr>
        <p:spPr>
          <a:xfrm>
            <a:off x="6217920" y="1645920"/>
            <a:ext cx="52120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664208"/>
            <a:ext cx="5175504"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828800"/>
            <a:ext cx="4754880" cy="4251960"/>
          </a:xfrm>
          <a:prstGeom prst="rect">
            <a:avLst/>
          </a:prstGeom>
          <a:noFill/>
        </p:spPr>
        <p:txBody>
          <a:bodyPr wrap="square" lIns="0" tIns="0" rIns="0" bIns="0">
            <a:spAutoFit/>
          </a:bodyPr>
          <a:lstStyle/>
          <a:p>
            <a:pPr>
              <a:spcAft>
                <a:spcPts val="800"/>
              </a:spcAft>
              <a:defRPr sz="1400" b="1">
                <a:solidFill>
                  <a:srgbClr val="0F172A"/>
                </a:solidFill>
              </a:defRPr>
            </a:pPr>
            <a:r>
              <a:t>Seamless Quoting Engine Integration</a:t>
            </a:r>
          </a:p>
          <a:p>
            <a:pPr>
              <a:spcAft>
                <a:spcPts val="500"/>
              </a:spcAft>
              <a:defRPr sz="1050"/>
            </a:pPr>
            <a:r>
              <a:rPr b="1">
                <a:solidFill>
                  <a:srgbClr val="0F172A"/>
                </a:solidFill>
              </a:rPr>
              <a:t>Automated Line-Item Surcharge: </a:t>
            </a:r>
            <a:r>
              <a:rPr>
                <a:solidFill>
                  <a:srgbClr val="64748B"/>
                </a:solidFill>
              </a:rPr>
              <a:t>Applies effective fuel percentage directly to base freight: FSC = Base × (FSC% / 100).</a:t>
            </a:r>
          </a:p>
          <a:p>
            <a:pPr>
              <a:spcAft>
                <a:spcPts val="500"/>
              </a:spcAft>
              <a:defRPr sz="1050"/>
            </a:pPr>
            <a:r>
              <a:rPr b="1">
                <a:solidFill>
                  <a:srgbClr val="0F172A"/>
                </a:solidFill>
              </a:rPr>
              <a:t>Full Transparency (Rule 13): </a:t>
            </a:r>
            <a:r>
              <a:rPr>
                <a:solidFill>
                  <a:srgbClr val="64748B"/>
                </a:solidFill>
              </a:rPr>
              <a:t>Never buries fuel into base freight; itemizes FSC clearly on quote cards and client proposals.</a:t>
            </a:r>
          </a:p>
          <a:p>
            <a:pPr>
              <a:spcAft>
                <a:spcPts val="500"/>
              </a:spcAft>
              <a:defRPr sz="1050"/>
            </a:pPr>
            <a:r>
              <a:rPr b="1">
                <a:solidFill>
                  <a:srgbClr val="0F172A"/>
                </a:solidFill>
              </a:rPr>
              <a:t>Multi-Carrier Parity: </a:t>
            </a:r>
            <a:r>
              <a:rPr>
                <a:solidFill>
                  <a:srgbClr val="64748B"/>
                </a:solidFill>
              </a:rPr>
              <a:t>Applies consistent weekly benchmark rates across all competing carrier options for fair comparison.</a:t>
            </a:r>
          </a:p>
          <a:p>
            <a:pPr>
              <a:spcAft>
                <a:spcPts val="500"/>
              </a:spcAft>
              <a:defRPr sz="1050"/>
            </a:pPr>
            <a:r>
              <a:rPr b="1">
                <a:solidFill>
                  <a:srgbClr val="0F172A"/>
                </a:solidFill>
              </a:rPr>
              <a:t>Broker Margin Protection: </a:t>
            </a:r>
            <a:r>
              <a:rPr>
                <a:solidFill>
                  <a:srgbClr val="64748B"/>
                </a:solidFill>
              </a:rPr>
              <a:t>Ensures fuel surcharges adjust automatically as diesel markets shift week to week.</a:t>
            </a:r>
          </a:p>
          <a:p>
            <a:pPr>
              <a:spcAft>
                <a:spcPts val="500"/>
              </a:spcAft>
              <a:defRPr sz="1050"/>
            </a:pPr>
            <a:r>
              <a:rPr b="1">
                <a:solidFill>
                  <a:srgbClr val="0F172A"/>
                </a:solidFill>
              </a:rPr>
              <a:t>Audit Log Verification: </a:t>
            </a:r>
            <a:r>
              <a:rPr>
                <a:solidFill>
                  <a:srgbClr val="64748B"/>
                </a:solidFill>
              </a:rPr>
              <a:t>Records active fuel index code, percentage, and dollar amount in quote audit logs.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FUNCTIONAL CAPABILITIES</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Commercial Tools: Rate Sheet Redaction &amp; 1-Click Proposals</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14/18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5084064" cy="731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663440" cy="4251960"/>
          </a:xfrm>
          <a:prstGeom prst="rect">
            <a:avLst/>
          </a:prstGeom>
          <a:noFill/>
        </p:spPr>
        <p:txBody>
          <a:bodyPr wrap="square" lIns="0" tIns="0" rIns="0" bIns="0">
            <a:spAutoFit/>
          </a:bodyPr>
          <a:lstStyle/>
          <a:p>
            <a:pPr>
              <a:spcAft>
                <a:spcPts val="800"/>
              </a:spcAft>
              <a:defRPr sz="1400" b="1">
                <a:solidFill>
                  <a:srgbClr val="0F172A"/>
                </a:solidFill>
              </a:defRPr>
            </a:pPr>
            <a:r>
              <a:t>Client-Side Rate Sheet Masker / Redactor</a:t>
            </a:r>
          </a:p>
          <a:p>
            <a:pPr>
              <a:spcAft>
                <a:spcPts val="500"/>
              </a:spcAft>
              <a:defRPr sz="1050"/>
            </a:pPr>
            <a:r>
              <a:rPr b="1">
                <a:solidFill>
                  <a:srgbClr val="0F172A"/>
                </a:solidFill>
              </a:rPr>
              <a:t>Protects Confidential Data: </a:t>
            </a:r>
            <a:r>
              <a:rPr>
                <a:solidFill>
                  <a:srgbClr val="64748B"/>
                </a:solidFill>
              </a:rPr>
              <a:t>Freight brokers frequently receive proprietary discounts they cannot share publicly.</a:t>
            </a:r>
          </a:p>
          <a:p>
            <a:pPr>
              <a:spcAft>
                <a:spcPts val="500"/>
              </a:spcAft>
              <a:defRPr sz="1050"/>
            </a:pPr>
            <a:r>
              <a:rPr b="1">
                <a:solidFill>
                  <a:srgbClr val="0F172A"/>
                </a:solidFill>
              </a:rPr>
              <a:t>Automated Data Scrubbing: </a:t>
            </a:r>
            <a:r>
              <a:rPr>
                <a:solidFill>
                  <a:srgbClr val="64748B"/>
                </a:solidFill>
              </a:rPr>
              <a:t>Scans workbooks and replaces account numbers, sales emails, phone numbers, and margin targets with redaction tags.</a:t>
            </a:r>
          </a:p>
          <a:p>
            <a:pPr>
              <a:spcAft>
                <a:spcPts val="500"/>
              </a:spcAft>
              <a:defRPr sz="1050"/>
            </a:pPr>
            <a:r>
              <a:rPr b="1">
                <a:solidFill>
                  <a:srgbClr val="0F172A"/>
                </a:solidFill>
              </a:rPr>
              <a:t>100% Rate Preservation: </a:t>
            </a:r>
            <a:r>
              <a:rPr>
                <a:solidFill>
                  <a:srgbClr val="64748B"/>
                </a:solidFill>
              </a:rPr>
              <a:t>Retains all origin/destination lanes, weight breaks, and numeric rates intact.</a:t>
            </a:r>
          </a:p>
          <a:p>
            <a:pPr>
              <a:spcAft>
                <a:spcPts val="500"/>
              </a:spcAft>
              <a:defRPr sz="1050"/>
            </a:pPr>
            <a:r>
              <a:rPr b="1">
                <a:solidFill>
                  <a:srgbClr val="0F172A"/>
                </a:solidFill>
              </a:rPr>
              <a:t>Audit Privacy Status: </a:t>
            </a:r>
            <a:r>
              <a:rPr>
                <a:solidFill>
                  <a:srgbClr val="64748B"/>
                </a:solidFill>
              </a:rPr>
              <a:t>Workbook audit logs confirm 'VERIFIED_SCRUBBED' with total redaction count.</a:t>
            </a:r>
          </a:p>
          <a:p>
            <a:pPr>
              <a:spcAft>
                <a:spcPts val="500"/>
              </a:spcAft>
              <a:defRPr sz="1050"/>
            </a:pPr>
            <a:r>
              <a:rPr b="1">
                <a:solidFill>
                  <a:srgbClr val="0F172A"/>
                </a:solidFill>
              </a:rPr>
              <a:t>REST Endpoint: </a:t>
            </a:r>
            <a:r>
              <a:rPr>
                <a:solidFill>
                  <a:srgbClr val="64748B"/>
                </a:solidFill>
              </a:rPr>
              <a:t>POST /api/ratesift/preview-redaction previews scrubbed files before downloading.</a:t>
            </a:r>
          </a:p>
        </p:txBody>
      </p:sp>
      <p:sp>
        <p:nvSpPr>
          <p:cNvPr id="10" name="Rounded Rectangle 9"/>
          <p:cNvSpPr/>
          <p:nvPr/>
        </p:nvSpPr>
        <p:spPr>
          <a:xfrm>
            <a:off x="6217920" y="1645920"/>
            <a:ext cx="52120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664208"/>
            <a:ext cx="5175504"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828800"/>
            <a:ext cx="4754880" cy="4251960"/>
          </a:xfrm>
          <a:prstGeom prst="rect">
            <a:avLst/>
          </a:prstGeom>
          <a:noFill/>
        </p:spPr>
        <p:txBody>
          <a:bodyPr wrap="square" lIns="0" tIns="0" rIns="0" bIns="0">
            <a:spAutoFit/>
          </a:bodyPr>
          <a:lstStyle/>
          <a:p>
            <a:pPr>
              <a:spcAft>
                <a:spcPts val="800"/>
              </a:spcAft>
              <a:defRPr sz="1400" b="1">
                <a:solidFill>
                  <a:srgbClr val="0F172A"/>
                </a:solidFill>
              </a:defRPr>
            </a:pPr>
            <a:r>
              <a:t>1-Click Client Proposal Generator</a:t>
            </a:r>
          </a:p>
          <a:p>
            <a:pPr>
              <a:spcAft>
                <a:spcPts val="500"/>
              </a:spcAft>
              <a:defRPr sz="1050"/>
            </a:pPr>
            <a:r>
              <a:rPr b="1">
                <a:solidFill>
                  <a:srgbClr val="0F172A"/>
                </a:solidFill>
              </a:rPr>
              <a:t>Instant Client Conversion: </a:t>
            </a:r>
            <a:r>
              <a:rPr>
                <a:solidFill>
                  <a:srgbClr val="64748B"/>
                </a:solidFill>
              </a:rPr>
              <a:t>Converts internal carrier comparison into client-facing formal price proposals in 1 click.</a:t>
            </a:r>
          </a:p>
          <a:p>
            <a:pPr>
              <a:spcAft>
                <a:spcPts val="500"/>
              </a:spcAft>
              <a:defRPr sz="1050"/>
            </a:pPr>
            <a:r>
              <a:rPr b="1">
                <a:solidFill>
                  <a:srgbClr val="0F172A"/>
                </a:solidFill>
              </a:rPr>
              <a:t>Margin &amp; Markup Control: </a:t>
            </a:r>
            <a:r>
              <a:rPr>
                <a:solidFill>
                  <a:srgbClr val="64748B"/>
                </a:solidFill>
              </a:rPr>
              <a:t>Applies broker markup (+10%, +15%, or custom total) while completely hiding carrier wholesale costs.</a:t>
            </a:r>
          </a:p>
          <a:p>
            <a:pPr>
              <a:spcAft>
                <a:spcPts val="500"/>
              </a:spcAft>
              <a:defRPr sz="1050"/>
            </a:pPr>
            <a:r>
              <a:rPr b="1">
                <a:solidFill>
                  <a:srgbClr val="0F172A"/>
                </a:solidFill>
              </a:rPr>
              <a:t>Unique Proposal Identifier: </a:t>
            </a:r>
            <a:r>
              <a:rPr>
                <a:solidFill>
                  <a:srgbClr val="64748B"/>
                </a:solidFill>
              </a:rPr>
              <a:t>Issues formal proposal codes: PROP-YYYYMMDD-XXXXX valid for 7 calendar days.</a:t>
            </a:r>
          </a:p>
          <a:p>
            <a:pPr>
              <a:spcAft>
                <a:spcPts val="500"/>
              </a:spcAft>
              <a:defRPr sz="1050"/>
            </a:pPr>
            <a:r>
              <a:rPr b="1">
                <a:solidFill>
                  <a:srgbClr val="0F172A"/>
                </a:solidFill>
              </a:rPr>
              <a:t>Printable Web Proposal: </a:t>
            </a:r>
            <a:r>
              <a:rPr>
                <a:solidFill>
                  <a:srgbClr val="64748B"/>
                </a:solidFill>
              </a:rPr>
              <a:t>Formatted in-browser print layout with clean page breaks and professional brokerage letterhead.</a:t>
            </a:r>
          </a:p>
          <a:p>
            <a:pPr>
              <a:spcAft>
                <a:spcPts val="500"/>
              </a:spcAft>
              <a:defRPr sz="1050"/>
            </a:pPr>
            <a:r>
              <a:rPr b="1">
                <a:solidFill>
                  <a:srgbClr val="0F172A"/>
                </a:solidFill>
              </a:rPr>
              <a:t>Exportable Excel Proposal: </a:t>
            </a:r>
            <a:r>
              <a:rPr>
                <a:solidFill>
                  <a:srgbClr val="64748B"/>
                </a:solidFill>
              </a:rPr>
              <a:t>Streams styled .xlsx client proposal workbooks ready to email to shippers.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UPDATED BUSINESS PLAN</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Business Plan: Market Opportunity &amp; Ideal Customer Profile</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15/18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3346704"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1. Market Size &amp; Demand</a:t>
            </a:r>
          </a:p>
          <a:p>
            <a:pPr>
              <a:spcAft>
                <a:spcPts val="500"/>
              </a:spcAft>
              <a:defRPr sz="1050"/>
            </a:pPr>
            <a:r>
              <a:rPr b="1">
                <a:solidFill>
                  <a:srgbClr val="0F172A"/>
                </a:solidFill>
              </a:rPr>
              <a:t>$20B+ Canadian Freight Market: </a:t>
            </a:r>
            <a:r>
              <a:rPr>
                <a:solidFill>
                  <a:srgbClr val="64748B"/>
                </a:solidFill>
              </a:rPr>
              <a:t>Over 2,500 licensed freight brokerages and 15,000 independent dispatchers operating in Canada.</a:t>
            </a:r>
          </a:p>
          <a:p>
            <a:pPr>
              <a:spcAft>
                <a:spcPts val="500"/>
              </a:spcAft>
              <a:defRPr sz="1050"/>
            </a:pPr>
            <a:r>
              <a:rPr b="1">
                <a:solidFill>
                  <a:srgbClr val="0F172A"/>
                </a:solidFill>
              </a:rPr>
              <a:t>High Spreadsheet Reliance: </a:t>
            </a:r>
            <a:r>
              <a:rPr>
                <a:solidFill>
                  <a:srgbClr val="64748B"/>
                </a:solidFill>
              </a:rPr>
              <a:t>82% of mid-market freight intermediaries still calculate quotes using Microsoft Excel.</a:t>
            </a:r>
          </a:p>
          <a:p>
            <a:pPr>
              <a:spcAft>
                <a:spcPts val="500"/>
              </a:spcAft>
              <a:defRPr sz="1050"/>
            </a:pPr>
            <a:r>
              <a:rPr b="1">
                <a:solidFill>
                  <a:srgbClr val="0F172A"/>
                </a:solidFill>
              </a:rPr>
              <a:t>Inefficient Quoting Cycles: </a:t>
            </a:r>
            <a:r>
              <a:rPr>
                <a:solidFill>
                  <a:srgbClr val="64748B"/>
                </a:solidFill>
              </a:rPr>
              <a:t>Average broker takes 18 minutes to price a multi-carrier LTL load manually.</a:t>
            </a:r>
          </a:p>
        </p:txBody>
      </p:sp>
      <p:sp>
        <p:nvSpPr>
          <p:cNvPr id="10" name="Rounded Rectangle 9"/>
          <p:cNvSpPr/>
          <p:nvPr/>
        </p:nvSpPr>
        <p:spPr>
          <a:xfrm>
            <a:off x="43891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664208"/>
            <a:ext cx="3346704"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2. Ideal Customer Profile (ICP)</a:t>
            </a:r>
          </a:p>
          <a:p>
            <a:pPr>
              <a:spcAft>
                <a:spcPts val="500"/>
              </a:spcAft>
              <a:defRPr sz="1050"/>
            </a:pPr>
            <a:r>
              <a:rPr b="1">
                <a:solidFill>
                  <a:srgbClr val="0F172A"/>
                </a:solidFill>
              </a:rPr>
              <a:t>Mid-Market Freight Brokers: </a:t>
            </a:r>
            <a:r>
              <a:rPr>
                <a:solidFill>
                  <a:srgbClr val="64748B"/>
                </a:solidFill>
              </a:rPr>
              <a:t>Brokerages with 2–20 dispatchers managing 5+ carrier tariff contracts.</a:t>
            </a:r>
          </a:p>
          <a:p>
            <a:pPr>
              <a:spcAft>
                <a:spcPts val="500"/>
              </a:spcAft>
              <a:defRPr sz="1050"/>
            </a:pPr>
            <a:r>
              <a:rPr b="1">
                <a:solidFill>
                  <a:srgbClr val="0F172A"/>
                </a:solidFill>
              </a:rPr>
              <a:t>Regional 3PL Providers: </a:t>
            </a:r>
            <a:r>
              <a:rPr>
                <a:solidFill>
                  <a:srgbClr val="64748B"/>
                </a:solidFill>
              </a:rPr>
              <a:t>Warehousing and logistics hubs offering outsourced shipping services to Canadian shippers.</a:t>
            </a:r>
          </a:p>
          <a:p>
            <a:pPr>
              <a:spcAft>
                <a:spcPts val="500"/>
              </a:spcAft>
              <a:defRPr sz="1050"/>
            </a:pPr>
            <a:r>
              <a:rPr b="1">
                <a:solidFill>
                  <a:srgbClr val="0F172A"/>
                </a:solidFill>
              </a:rPr>
              <a:t>Enterprise Shipping Desks: </a:t>
            </a:r>
            <a:r>
              <a:rPr>
                <a:solidFill>
                  <a:srgbClr val="64748B"/>
                </a:solidFill>
              </a:rPr>
              <a:t>High-volume manufacturers and distributors wanting to audit contracted carrier bills.</a:t>
            </a:r>
          </a:p>
          <a:p>
            <a:pPr>
              <a:spcAft>
                <a:spcPts val="500"/>
              </a:spcAft>
              <a:defRPr sz="1050"/>
            </a:pPr>
            <a:r>
              <a:rPr b="1">
                <a:solidFill>
                  <a:srgbClr val="0F172A"/>
                </a:solidFill>
              </a:rPr>
              <a:t>Cross-Border Forwarders: </a:t>
            </a:r>
            <a:r>
              <a:rPr>
                <a:solidFill>
                  <a:srgbClr val="64748B"/>
                </a:solidFill>
              </a:rPr>
              <a:t>Forwarders managing freight lanes between Ontario/Quebec and US Midwest/Northeast.</a:t>
            </a:r>
          </a:p>
        </p:txBody>
      </p:sp>
      <p:sp>
        <p:nvSpPr>
          <p:cNvPr id="13" name="Rounded Rectangle 12"/>
          <p:cNvSpPr/>
          <p:nvPr/>
        </p:nvSpPr>
        <p:spPr>
          <a:xfrm>
            <a:off x="80467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664208"/>
            <a:ext cx="3346704"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3. Unique Value Proposition</a:t>
            </a:r>
          </a:p>
          <a:p>
            <a:pPr>
              <a:spcAft>
                <a:spcPts val="500"/>
              </a:spcAft>
              <a:defRPr sz="1050"/>
            </a:pPr>
            <a:r>
              <a:rPr b="1">
                <a:solidFill>
                  <a:srgbClr val="0F172A"/>
                </a:solidFill>
              </a:rPr>
              <a:t>Pure Quoting Focus: </a:t>
            </a:r>
            <a:r>
              <a:rPr>
                <a:solidFill>
                  <a:srgbClr val="64748B"/>
                </a:solidFill>
              </a:rPr>
              <a:t>No expensive TMS lock-in; works alongside existing dispatch tools.</a:t>
            </a:r>
          </a:p>
          <a:p>
            <a:pPr>
              <a:spcAft>
                <a:spcPts val="500"/>
              </a:spcAft>
              <a:defRPr sz="1050"/>
            </a:pPr>
            <a:r>
              <a:rPr b="1">
                <a:solidFill>
                  <a:srgbClr val="0F172A"/>
                </a:solidFill>
              </a:rPr>
              <a:t>Fast Time-to-Value: </a:t>
            </a:r>
            <a:r>
              <a:rPr>
                <a:solidFill>
                  <a:srgbClr val="64748B"/>
                </a:solidFill>
              </a:rPr>
              <a:t>Brokers upload their real spreadsheets and start quoting within 2 minutes.</a:t>
            </a:r>
          </a:p>
          <a:p>
            <a:pPr>
              <a:spcAft>
                <a:spcPts val="500"/>
              </a:spcAft>
              <a:defRPr sz="1050"/>
            </a:pPr>
            <a:r>
              <a:rPr b="1">
                <a:solidFill>
                  <a:srgbClr val="0F172A"/>
                </a:solidFill>
              </a:rPr>
              <a:t>Canadian Sovereignty: </a:t>
            </a:r>
            <a:r>
              <a:rPr>
                <a:solidFill>
                  <a:srgbClr val="64748B"/>
                </a:solidFill>
              </a:rPr>
              <a:t>All data resident in Canada, complying with WHC hosting standards and PIPEDA privacy laws.</a:t>
            </a:r>
          </a:p>
          <a:p>
            <a:pPr>
              <a:spcAft>
                <a:spcPts val="500"/>
              </a:spcAft>
              <a:defRPr sz="1050"/>
            </a:pPr>
            <a:r>
              <a:rPr b="1">
                <a:solidFill>
                  <a:srgbClr val="0F172A"/>
                </a:solidFill>
              </a:rPr>
              <a:t>High ROI: </a:t>
            </a:r>
            <a:r>
              <a:rPr>
                <a:solidFill>
                  <a:srgbClr val="64748B"/>
                </a:solidFill>
              </a:rPr>
              <a:t>Saves 3+ hours per broker daily, paying for itself on day 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UPDATED BUSINESS PLAN</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Business Plan: Updated 4-Tier Commercial Pricing Model</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16/18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645920"/>
          <a:ext cx="10728655" cy="4572000"/>
        </p:xfrm>
        <a:graphic>
          <a:graphicData uri="http://schemas.openxmlformats.org/drawingml/2006/table">
            <a:tbl>
              <a:tblPr firstRow="1" bandRow="1">
                <a:tableStyleId>{5C22544A-7EE6-4342-B048-85BDC9FD1C3A}</a:tableStyleId>
              </a:tblPr>
              <a:tblGrid>
                <a:gridCol w="2681935"/>
                <a:gridCol w="2011680"/>
                <a:gridCol w="2011680"/>
                <a:gridCol w="2011680"/>
                <a:gridCol w="2011680"/>
              </a:tblGrid>
              <a:tr h="914400">
                <a:tc>
                  <a:txBody>
                    <a:bodyPr/>
                    <a:lstStyle/>
                    <a:p>
                      <a:pPr algn="l">
                        <a:defRPr sz="1200" b="1">
                          <a:solidFill>
                            <a:srgbClr val="FFFFFF"/>
                          </a:solidFill>
                        </a:defRPr>
                      </a:pPr>
                      <a:r>
                        <a:t>Plan Metric</a:t>
                      </a:r>
                    </a:p>
                  </a:txBody>
                  <a:tcPr>
                    <a:solidFill>
                      <a:srgbClr val="0F172A"/>
                    </a:solidFill>
                  </a:tcPr>
                </a:tc>
                <a:tc>
                  <a:txBody>
                    <a:bodyPr/>
                    <a:lstStyle/>
                    <a:p>
                      <a:pPr algn="ctr">
                        <a:defRPr sz="1200" b="1">
                          <a:solidFill>
                            <a:srgbClr val="FFFFFF"/>
                          </a:solidFill>
                        </a:defRPr>
                      </a:pPr>
                      <a:r>
                        <a:t>Free Starter</a:t>
                      </a:r>
                    </a:p>
                  </a:txBody>
                  <a:tcPr>
                    <a:solidFill>
                      <a:srgbClr val="0F172A"/>
                    </a:solidFill>
                  </a:tcPr>
                </a:tc>
                <a:tc>
                  <a:txBody>
                    <a:bodyPr/>
                    <a:lstStyle/>
                    <a:p>
                      <a:pPr algn="ctr">
                        <a:defRPr sz="1200" b="1">
                          <a:solidFill>
                            <a:srgbClr val="FFFFFF"/>
                          </a:solidFill>
                        </a:defRPr>
                      </a:pPr>
                      <a:r>
                        <a:t>Broker Pro</a:t>
                      </a:r>
                    </a:p>
                  </a:txBody>
                  <a:tcPr>
                    <a:solidFill>
                      <a:srgbClr val="DC2626"/>
                    </a:solidFill>
                  </a:tcPr>
                </a:tc>
                <a:tc>
                  <a:txBody>
                    <a:bodyPr/>
                    <a:lstStyle/>
                    <a:p>
                      <a:pPr algn="ctr">
                        <a:defRPr sz="1200" b="1">
                          <a:solidFill>
                            <a:srgbClr val="FFFFFF"/>
                          </a:solidFill>
                        </a:defRPr>
                      </a:pPr>
                      <a:r>
                        <a:t>Broker Team</a:t>
                      </a:r>
                    </a:p>
                  </a:txBody>
                  <a:tcPr>
                    <a:solidFill>
                      <a:srgbClr val="0F172A"/>
                    </a:solidFill>
                  </a:tcPr>
                </a:tc>
                <a:tc>
                  <a:txBody>
                    <a:bodyPr/>
                    <a:lstStyle/>
                    <a:p>
                      <a:pPr algn="ctr">
                        <a:defRPr sz="1200" b="1">
                          <a:solidFill>
                            <a:srgbClr val="FFFFFF"/>
                          </a:solidFill>
                        </a:defRPr>
                      </a:pPr>
                      <a:r>
                        <a:t>Business Custom</a:t>
                      </a:r>
                    </a:p>
                  </a:txBody>
                  <a:tcPr>
                    <a:solidFill>
                      <a:srgbClr val="0F172A"/>
                    </a:solidFill>
                  </a:tcPr>
                </a:tc>
              </a:tr>
              <a:tr h="914400">
                <a:tc>
                  <a:txBody>
                    <a:bodyPr/>
                    <a:lstStyle/>
                    <a:p>
                      <a:pPr algn="l">
                        <a:defRPr sz="1050" b="1">
                          <a:solidFill>
                            <a:srgbClr val="0F172A"/>
                          </a:solidFill>
                        </a:defRPr>
                      </a:pPr>
                      <a:r>
                        <a:t>Monthly Pricing (CAD)</a:t>
                      </a:r>
                    </a:p>
                  </a:txBody>
                  <a:tcPr>
                    <a:solidFill>
                      <a:srgbClr val="FFFFFF"/>
                    </a:solidFill>
                  </a:tcPr>
                </a:tc>
                <a:tc>
                  <a:txBody>
                    <a:bodyPr/>
                    <a:lstStyle/>
                    <a:p>
                      <a:pPr algn="ctr">
                        <a:defRPr sz="1050" b="1">
                          <a:solidFill>
                            <a:srgbClr val="0F172A"/>
                          </a:solidFill>
                        </a:defRPr>
                      </a:pPr>
                      <a:r>
                        <a:t>$0 / month</a:t>
                      </a:r>
                    </a:p>
                  </a:txBody>
                  <a:tcPr>
                    <a:solidFill>
                      <a:srgbClr val="FFFFFF"/>
                    </a:solidFill>
                  </a:tcPr>
                </a:tc>
                <a:tc>
                  <a:txBody>
                    <a:bodyPr/>
                    <a:lstStyle/>
                    <a:p>
                      <a:pPr algn="ctr">
                        <a:defRPr sz="1050" b="1">
                          <a:solidFill>
                            <a:srgbClr val="DC2626"/>
                          </a:solidFill>
                        </a:defRPr>
                      </a:pPr>
                      <a:r>
                        <a:t>$79 / month</a:t>
                      </a:r>
                    </a:p>
                  </a:txBody>
                  <a:tcPr>
                    <a:solidFill>
                      <a:srgbClr val="FEF2F2"/>
                    </a:solidFill>
                  </a:tcPr>
                </a:tc>
                <a:tc>
                  <a:txBody>
                    <a:bodyPr/>
                    <a:lstStyle/>
                    <a:p>
                      <a:pPr algn="ctr">
                        <a:defRPr sz="1050" b="1">
                          <a:solidFill>
                            <a:srgbClr val="0F172A"/>
                          </a:solidFill>
                        </a:defRPr>
                      </a:pPr>
                      <a:r>
                        <a:t>$199 / month</a:t>
                      </a:r>
                    </a:p>
                  </a:txBody>
                  <a:tcPr>
                    <a:solidFill>
                      <a:srgbClr val="FFFFFF"/>
                    </a:solidFill>
                  </a:tcPr>
                </a:tc>
                <a:tc>
                  <a:txBody>
                    <a:bodyPr/>
                    <a:lstStyle/>
                    <a:p>
                      <a:pPr algn="ctr">
                        <a:defRPr sz="1050" b="1">
                          <a:solidFill>
                            <a:srgbClr val="0F172A"/>
                          </a:solidFill>
                        </a:defRPr>
                      </a:pPr>
                      <a:r>
                        <a:t>Custom / Contract</a:t>
                      </a:r>
                    </a:p>
                  </a:txBody>
                  <a:tcPr>
                    <a:solidFill>
                      <a:srgbClr val="FFFFFF"/>
                    </a:solidFill>
                  </a:tcPr>
                </a:tc>
              </a:tr>
              <a:tr h="914400">
                <a:tc>
                  <a:txBody>
                    <a:bodyPr/>
                    <a:lstStyle/>
                    <a:p>
                      <a:pPr algn="l">
                        <a:defRPr sz="1050" b="1">
                          <a:solidFill>
                            <a:srgbClr val="0F172A"/>
                          </a:solidFill>
                        </a:defRPr>
                      </a:pPr>
                      <a:r>
                        <a:t>Annual Pricing (-20%)</a:t>
                      </a:r>
                    </a:p>
                  </a:txBody>
                  <a:tcPr>
                    <a:solidFill>
                      <a:srgbClr val="F8FAFC"/>
                    </a:solidFill>
                  </a:tcPr>
                </a:tc>
                <a:tc>
                  <a:txBody>
                    <a:bodyPr/>
                    <a:lstStyle/>
                    <a:p>
                      <a:pPr algn="ctr">
                        <a:defRPr sz="1050" b="0">
                          <a:solidFill>
                            <a:srgbClr val="0F172A"/>
                          </a:solidFill>
                        </a:defRPr>
                      </a:pPr>
                      <a:r>
                        <a:t>Free Forever</a:t>
                      </a:r>
                    </a:p>
                  </a:txBody>
                  <a:tcPr>
                    <a:solidFill>
                      <a:srgbClr val="F8FAFC"/>
                    </a:solidFill>
                  </a:tcPr>
                </a:tc>
                <a:tc>
                  <a:txBody>
                    <a:bodyPr/>
                    <a:lstStyle/>
                    <a:p>
                      <a:pPr algn="ctr">
                        <a:defRPr sz="1050" b="0">
                          <a:solidFill>
                            <a:srgbClr val="0F172A"/>
                          </a:solidFill>
                        </a:defRPr>
                      </a:pPr>
                      <a:r>
                        <a:t>$63 / mo ($756/yr)</a:t>
                      </a:r>
                    </a:p>
                  </a:txBody>
                  <a:tcPr>
                    <a:solidFill>
                      <a:srgbClr val="FEF2F2"/>
                    </a:solidFill>
                  </a:tcPr>
                </a:tc>
                <a:tc>
                  <a:txBody>
                    <a:bodyPr/>
                    <a:lstStyle/>
                    <a:p>
                      <a:pPr algn="ctr">
                        <a:defRPr sz="1050" b="0">
                          <a:solidFill>
                            <a:srgbClr val="0F172A"/>
                          </a:solidFill>
                        </a:defRPr>
                      </a:pPr>
                      <a:r>
                        <a:t>$159 / mo ($1,908/yr)</a:t>
                      </a:r>
                    </a:p>
                  </a:txBody>
                  <a:tcPr>
                    <a:solidFill>
                      <a:srgbClr val="F8FAFC"/>
                    </a:solidFill>
                  </a:tcPr>
                </a:tc>
                <a:tc>
                  <a:txBody>
                    <a:bodyPr/>
                    <a:lstStyle/>
                    <a:p>
                      <a:pPr algn="ctr">
                        <a:defRPr sz="1050" b="0">
                          <a:solidFill>
                            <a:srgbClr val="0F172A"/>
                          </a:solidFill>
                        </a:defRPr>
                      </a:pPr>
                      <a:r>
                        <a:t>Annual SLA Contract</a:t>
                      </a:r>
                    </a:p>
                  </a:txBody>
                  <a:tcPr>
                    <a:solidFill>
                      <a:srgbClr val="F8FAFC"/>
                    </a:solidFill>
                  </a:tcPr>
                </a:tc>
              </a:tr>
              <a:tr h="914400">
                <a:tc>
                  <a:txBody>
                    <a:bodyPr/>
                    <a:lstStyle/>
                    <a:p>
                      <a:pPr algn="l">
                        <a:defRPr sz="1050" b="1">
                          <a:solidFill>
                            <a:srgbClr val="0F172A"/>
                          </a:solidFill>
                        </a:defRPr>
                      </a:pPr>
                      <a:r>
                        <a:t>Active Rate Sheets</a:t>
                      </a:r>
                    </a:p>
                  </a:txBody>
                  <a:tcPr>
                    <a:solidFill>
                      <a:srgbClr val="FFFFFF"/>
                    </a:solidFill>
                  </a:tcPr>
                </a:tc>
                <a:tc>
                  <a:txBody>
                    <a:bodyPr/>
                    <a:lstStyle/>
                    <a:p>
                      <a:pPr algn="ctr">
                        <a:defRPr sz="1050" b="0">
                          <a:solidFill>
                            <a:srgbClr val="0F172A"/>
                          </a:solidFill>
                        </a:defRPr>
                      </a:pPr>
                      <a:r>
                        <a:t>Up to 3 Sheets</a:t>
                      </a:r>
                    </a:p>
                  </a:txBody>
                  <a:tcPr>
                    <a:solidFill>
                      <a:srgbClr val="FFFFFF"/>
                    </a:solidFill>
                  </a:tcPr>
                </a:tc>
                <a:tc>
                  <a:txBody>
                    <a:bodyPr/>
                    <a:lstStyle/>
                    <a:p>
                      <a:pPr algn="ctr">
                        <a:defRPr sz="1050" b="0">
                          <a:solidFill>
                            <a:srgbClr val="0F172A"/>
                          </a:solidFill>
                        </a:defRPr>
                      </a:pPr>
                      <a:r>
                        <a:t>Up to 10 Sheets</a:t>
                      </a:r>
                    </a:p>
                  </a:txBody>
                  <a:tcPr>
                    <a:solidFill>
                      <a:srgbClr val="FEF2F2"/>
                    </a:solidFill>
                  </a:tcPr>
                </a:tc>
                <a:tc>
                  <a:txBody>
                    <a:bodyPr/>
                    <a:lstStyle/>
                    <a:p>
                      <a:pPr algn="ctr">
                        <a:defRPr sz="1050" b="0">
                          <a:solidFill>
                            <a:srgbClr val="0F172A"/>
                          </a:solidFill>
                        </a:defRPr>
                      </a:pPr>
                      <a:r>
                        <a:t>Unlimited Sheets</a:t>
                      </a:r>
                    </a:p>
                  </a:txBody>
                  <a:tcPr>
                    <a:solidFill>
                      <a:srgbClr val="FFFFFF"/>
                    </a:solidFill>
                  </a:tcPr>
                </a:tc>
                <a:tc>
                  <a:txBody>
                    <a:bodyPr/>
                    <a:lstStyle/>
                    <a:p>
                      <a:pPr algn="ctr">
                        <a:defRPr sz="1050" b="0">
                          <a:solidFill>
                            <a:srgbClr val="0F172A"/>
                          </a:solidFill>
                        </a:defRPr>
                      </a:pPr>
                      <a:r>
                        <a:t>Unlimited Sheets</a:t>
                      </a:r>
                    </a:p>
                  </a:txBody>
                  <a:tcPr>
                    <a:solidFill>
                      <a:srgbClr val="FFFFFF"/>
                    </a:solidFill>
                  </a:tcPr>
                </a:tc>
              </a:tr>
              <a:tr h="914400">
                <a:tc>
                  <a:txBody>
                    <a:bodyPr/>
                    <a:lstStyle/>
                    <a:p>
                      <a:pPr algn="l">
                        <a:defRPr sz="1050" b="1">
                          <a:solidFill>
                            <a:srgbClr val="0F172A"/>
                          </a:solidFill>
                        </a:defRPr>
                      </a:pPr>
                      <a:r>
                        <a:t>Monthly Batch Quotes</a:t>
                      </a:r>
                    </a:p>
                  </a:txBody>
                  <a:tcPr>
                    <a:solidFill>
                      <a:srgbClr val="F8FAFC"/>
                    </a:solidFill>
                  </a:tcPr>
                </a:tc>
                <a:tc>
                  <a:txBody>
                    <a:bodyPr/>
                    <a:lstStyle/>
                    <a:p>
                      <a:pPr algn="ctr">
                        <a:defRPr sz="1050" b="0">
                          <a:solidFill>
                            <a:srgbClr val="0F172A"/>
                          </a:solidFill>
                        </a:defRPr>
                      </a:pPr>
                      <a:r>
                        <a:t>50 Quotes / mo</a:t>
                      </a:r>
                    </a:p>
                  </a:txBody>
                  <a:tcPr>
                    <a:solidFill>
                      <a:srgbClr val="F8FAFC"/>
                    </a:solidFill>
                  </a:tcPr>
                </a:tc>
                <a:tc>
                  <a:txBody>
                    <a:bodyPr/>
                    <a:lstStyle/>
                    <a:p>
                      <a:pPr algn="ctr">
                        <a:defRPr sz="1050" b="0">
                          <a:solidFill>
                            <a:srgbClr val="0F172A"/>
                          </a:solidFill>
                        </a:defRPr>
                      </a:pPr>
                      <a:r>
                        <a:t>2,500 Quotes / mo</a:t>
                      </a:r>
                    </a:p>
                  </a:txBody>
                  <a:tcPr>
                    <a:solidFill>
                      <a:srgbClr val="FEF2F2"/>
                    </a:solidFill>
                  </a:tcPr>
                </a:tc>
                <a:tc>
                  <a:txBody>
                    <a:bodyPr/>
                    <a:lstStyle/>
                    <a:p>
                      <a:pPr algn="ctr">
                        <a:defRPr sz="1050" b="0">
                          <a:solidFill>
                            <a:srgbClr val="0F172A"/>
                          </a:solidFill>
                        </a:defRPr>
                      </a:pPr>
                      <a:r>
                        <a:t>15,000 Quotes / mo</a:t>
                      </a:r>
                    </a:p>
                  </a:txBody>
                  <a:tcPr>
                    <a:solidFill>
                      <a:srgbClr val="F8FAFC"/>
                    </a:solidFill>
                  </a:tcPr>
                </a:tc>
                <a:tc>
                  <a:txBody>
                    <a:bodyPr/>
                    <a:lstStyle/>
                    <a:p>
                      <a:pPr algn="ctr">
                        <a:defRPr sz="1050" b="0">
                          <a:solidFill>
                            <a:srgbClr val="0F172A"/>
                          </a:solidFill>
                        </a:defRPr>
                      </a:pPr>
                      <a:r>
                        <a:t>50,000+ API Quotes</a:t>
                      </a:r>
                    </a:p>
                  </a:txBody>
                  <a:tcPr>
                    <a:solidFill>
                      <a:srgbClr val="F8FAF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UPDATED BUSINESS PLAN</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B2B Expansion: Embedded Quoting API &amp; Platform Integrations</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17/18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5084064"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663440" cy="4251960"/>
          </a:xfrm>
          <a:prstGeom prst="rect">
            <a:avLst/>
          </a:prstGeom>
          <a:noFill/>
        </p:spPr>
        <p:txBody>
          <a:bodyPr wrap="square" lIns="0" tIns="0" rIns="0" bIns="0">
            <a:spAutoFit/>
          </a:bodyPr>
          <a:lstStyle/>
          <a:p>
            <a:pPr>
              <a:spcAft>
                <a:spcPts val="800"/>
              </a:spcAft>
              <a:defRPr sz="1400" b="1">
                <a:solidFill>
                  <a:srgbClr val="0F172A"/>
                </a:solidFill>
              </a:defRPr>
            </a:pPr>
            <a:r>
              <a:t>Embedded REST API for 3PLs &amp; Platforms</a:t>
            </a:r>
          </a:p>
          <a:p>
            <a:pPr>
              <a:spcAft>
                <a:spcPts val="500"/>
              </a:spcAft>
              <a:defRPr sz="1050"/>
            </a:pPr>
            <a:r>
              <a:rPr b="1">
                <a:solidFill>
                  <a:srgbClr val="0F172A"/>
                </a:solidFill>
              </a:rPr>
              <a:t>Programmatic Batch Quoting: </a:t>
            </a:r>
            <a:r>
              <a:rPr>
                <a:solidFill>
                  <a:srgbClr val="64748B"/>
                </a:solidFill>
              </a:rPr>
              <a:t>POST /api/v1/quotes/batch enables automated rating calls directly from customer portals.</a:t>
            </a:r>
          </a:p>
          <a:p>
            <a:pPr>
              <a:spcAft>
                <a:spcPts val="500"/>
              </a:spcAft>
              <a:defRPr sz="1050"/>
            </a:pPr>
            <a:r>
              <a:rPr b="1">
                <a:solidFill>
                  <a:srgbClr val="0F172A"/>
                </a:solidFill>
              </a:rPr>
              <a:t>Sub-Second Latency SLA: </a:t>
            </a:r>
            <a:r>
              <a:rPr>
                <a:solidFill>
                  <a:srgbClr val="64748B"/>
                </a:solidFill>
              </a:rPr>
              <a:t>Engine evaluates multi-carrier rate breaks and minimum floors in under 350ms.</a:t>
            </a:r>
          </a:p>
          <a:p>
            <a:pPr>
              <a:spcAft>
                <a:spcPts val="500"/>
              </a:spcAft>
              <a:defRPr sz="1050"/>
            </a:pPr>
            <a:r>
              <a:rPr b="1">
                <a:solidFill>
                  <a:srgbClr val="0F172A"/>
                </a:solidFill>
              </a:rPr>
              <a:t>Secure API Key Authentication: </a:t>
            </a:r>
            <a:r>
              <a:rPr>
                <a:solidFill>
                  <a:srgbClr val="64748B"/>
                </a:solidFill>
              </a:rPr>
              <a:t>Dedicated X-API-Key validation with individual rate limiting and usage metering.</a:t>
            </a:r>
          </a:p>
          <a:p>
            <a:pPr>
              <a:spcAft>
                <a:spcPts val="500"/>
              </a:spcAft>
              <a:defRPr sz="1050"/>
            </a:pPr>
            <a:r>
              <a:rPr b="1">
                <a:solidFill>
                  <a:srgbClr val="0F172A"/>
                </a:solidFill>
              </a:rPr>
              <a:t>Interactive OpenAPI Documentation: </a:t>
            </a:r>
            <a:r>
              <a:rPr>
                <a:solidFill>
                  <a:srgbClr val="64748B"/>
                </a:solidFill>
              </a:rPr>
              <a:t>Complete Swagger docs available at /docs for seamless developer onboarding.</a:t>
            </a:r>
          </a:p>
          <a:p>
            <a:pPr>
              <a:spcAft>
                <a:spcPts val="500"/>
              </a:spcAft>
              <a:defRPr sz="1050"/>
            </a:pPr>
            <a:r>
              <a:rPr b="1">
                <a:solidFill>
                  <a:srgbClr val="0F172A"/>
                </a:solidFill>
              </a:rPr>
              <a:t>Webhook Event Callbacks: </a:t>
            </a:r>
            <a:r>
              <a:rPr>
                <a:solidFill>
                  <a:srgbClr val="64748B"/>
                </a:solidFill>
              </a:rPr>
              <a:t>Notifies external ERPs and dispatch systems when batch calculations complete.</a:t>
            </a:r>
          </a:p>
        </p:txBody>
      </p:sp>
      <p:sp>
        <p:nvSpPr>
          <p:cNvPr id="10" name="Rounded Rectangle 9"/>
          <p:cNvSpPr/>
          <p:nvPr/>
        </p:nvSpPr>
        <p:spPr>
          <a:xfrm>
            <a:off x="6217920" y="1645920"/>
            <a:ext cx="52120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664208"/>
            <a:ext cx="5175504" cy="731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828800"/>
            <a:ext cx="4754880" cy="4251960"/>
          </a:xfrm>
          <a:prstGeom prst="rect">
            <a:avLst/>
          </a:prstGeom>
          <a:noFill/>
        </p:spPr>
        <p:txBody>
          <a:bodyPr wrap="square" lIns="0" tIns="0" rIns="0" bIns="0">
            <a:spAutoFit/>
          </a:bodyPr>
          <a:lstStyle/>
          <a:p>
            <a:pPr>
              <a:spcAft>
                <a:spcPts val="800"/>
              </a:spcAft>
              <a:defRPr sz="1400" b="1">
                <a:solidFill>
                  <a:srgbClr val="0F172A"/>
                </a:solidFill>
              </a:defRPr>
            </a:pPr>
            <a:r>
              <a:t>High-Value B2B Integration Scenarios</a:t>
            </a:r>
          </a:p>
          <a:p>
            <a:pPr>
              <a:spcAft>
                <a:spcPts val="500"/>
              </a:spcAft>
              <a:defRPr sz="1050"/>
            </a:pPr>
            <a:r>
              <a:rPr b="1">
                <a:solidFill>
                  <a:srgbClr val="0F172A"/>
                </a:solidFill>
              </a:rPr>
              <a:t>Customer-Facing Shipper Portals: </a:t>
            </a:r>
            <a:r>
              <a:rPr>
                <a:solidFill>
                  <a:srgbClr val="64748B"/>
                </a:solidFill>
              </a:rPr>
              <a:t>3PLs embed RateSift into their client ordering portals, giving shippers instant rate estimates.</a:t>
            </a:r>
          </a:p>
          <a:p>
            <a:pPr>
              <a:spcAft>
                <a:spcPts val="500"/>
              </a:spcAft>
              <a:defRPr sz="1050"/>
            </a:pPr>
            <a:r>
              <a:rPr b="1">
                <a:solidFill>
                  <a:srgbClr val="0F172A"/>
                </a:solidFill>
              </a:rPr>
              <a:t>Proprietary Brokerage TMS &amp; ERPs: </a:t>
            </a:r>
            <a:r>
              <a:rPr>
                <a:solidFill>
                  <a:srgbClr val="64748B"/>
                </a:solidFill>
              </a:rPr>
              <a:t>Brokers connect internal dispatch systems to RateSift without building rating logic in-house.</a:t>
            </a:r>
          </a:p>
          <a:p>
            <a:pPr>
              <a:spcAft>
                <a:spcPts val="500"/>
              </a:spcAft>
              <a:defRPr sz="1050"/>
            </a:pPr>
            <a:r>
              <a:rPr b="1">
                <a:solidFill>
                  <a:srgbClr val="0F172A"/>
                </a:solidFill>
              </a:rPr>
              <a:t>E-Commerce &amp; B2B Checkout: </a:t>
            </a:r>
            <a:r>
              <a:rPr>
                <a:solidFill>
                  <a:srgbClr val="64748B"/>
                </a:solidFill>
              </a:rPr>
              <a:t>Wholesalers display accurate freight shipping options at online checkout for heavy freight.</a:t>
            </a:r>
          </a:p>
          <a:p>
            <a:pPr>
              <a:spcAft>
                <a:spcPts val="500"/>
              </a:spcAft>
              <a:defRPr sz="1050"/>
            </a:pPr>
            <a:r>
              <a:rPr b="1">
                <a:solidFill>
                  <a:srgbClr val="0F172A"/>
                </a:solidFill>
              </a:rPr>
              <a:t>Carrier Audit &amp; Reconciliation: </a:t>
            </a:r>
            <a:r>
              <a:rPr>
                <a:solidFill>
                  <a:srgbClr val="64748B"/>
                </a:solidFill>
              </a:rPr>
              <a:t>Shippers run post-billing freight audits against stored cell coordinates to catch billing errors.</a:t>
            </a:r>
          </a:p>
          <a:p>
            <a:pPr>
              <a:spcAft>
                <a:spcPts val="500"/>
              </a:spcAft>
              <a:defRPr sz="1050"/>
            </a:pPr>
            <a:r>
              <a:rPr b="1">
                <a:solidFill>
                  <a:srgbClr val="0F172A"/>
                </a:solidFill>
              </a:rPr>
              <a:t>Dedicated Canadian Cloud Tenant: </a:t>
            </a:r>
            <a:r>
              <a:rPr>
                <a:solidFill>
                  <a:srgbClr val="64748B"/>
                </a:solidFill>
              </a:rPr>
              <a:t>Enterprise tier includes isolated database instances hosted in Montreal or Toronto.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defRPr>
            </a:pPr>
            <a:r>
              <a:t>UPDATED BUSINESS PLAN</a:t>
            </a:r>
          </a:p>
        </p:txBody>
      </p:sp>
      <p:sp>
        <p:nvSpPr>
          <p:cNvPr id="3" name="TextBox 2"/>
          <p:cNvSpPr txBox="1"/>
          <p:nvPr/>
        </p:nvSpPr>
        <p:spPr>
          <a:xfrm>
            <a:off x="731520" y="685800"/>
            <a:ext cx="8686800" cy="685800"/>
          </a:xfrm>
          <a:prstGeom prst="rect">
            <a:avLst/>
          </a:prstGeom>
          <a:noFill/>
        </p:spPr>
        <p:txBody>
          <a:bodyPr wrap="square" lIns="0" tIns="0" rIns="0" bIns="0">
            <a:spAutoFit/>
          </a:bodyPr>
          <a:lstStyle/>
          <a:p>
            <a:pPr>
              <a:defRPr sz="2200" b="1">
                <a:solidFill>
                  <a:srgbClr val="0F172A"/>
                </a:solidFill>
              </a:defRPr>
            </a:pPr>
            <a:r>
              <a:t>Financial Outlook: Unit Economics, ARR Projections &amp; Roadmap</a:t>
            </a:r>
          </a:p>
        </p:txBody>
      </p:sp>
      <p:pic>
        <p:nvPicPr>
          <p:cNvPr id="4" name="Picture 3" descr="ratesift-logo.png"/>
          <p:cNvPicPr>
            <a:picLocks noChangeAspect="1"/>
          </p:cNvPicPr>
          <p:nvPr/>
        </p:nvPicPr>
        <p:blipFill>
          <a:blip r:embed="rId2"/>
          <a:stretch>
            <a:fillRect/>
          </a:stretch>
        </p:blipFill>
        <p:spPr>
          <a:xfrm>
            <a:off x="9601200" y="384048"/>
            <a:ext cx="1107831" cy="320040"/>
          </a:xfrm>
          <a:prstGeom prst="rect">
            <a:avLst/>
          </a:prstGeom>
        </p:spPr>
      </p:pic>
      <p:sp>
        <p:nvSpPr>
          <p:cNvPr id="5" name="TextBox 4"/>
          <p:cNvSpPr txBox="1"/>
          <p:nvPr/>
        </p:nvSpPr>
        <p:spPr>
          <a:xfrm>
            <a:off x="10972800" y="384048"/>
            <a:ext cx="548640" cy="320040"/>
          </a:xfrm>
          <a:prstGeom prst="rect">
            <a:avLst/>
          </a:prstGeom>
          <a:noFill/>
        </p:spPr>
        <p:txBody>
          <a:bodyPr wrap="none">
            <a:spAutoFit/>
          </a:bodyPr>
          <a:lstStyle/>
          <a:p>
            <a:pPr algn="r">
              <a:defRPr sz="1100" b="1">
                <a:solidFill>
                  <a:srgbClr val="64748B"/>
                </a:solidFill>
              </a:defRPr>
            </a:pPr>
            <a:r>
              <a:t>18/18</a:t>
            </a:r>
          </a:p>
        </p:txBody>
      </p:sp>
      <p:sp>
        <p:nvSpPr>
          <p:cNvPr id="6" name="Rectangle 5"/>
          <p:cNvSpPr/>
          <p:nvPr/>
        </p:nvSpPr>
        <p:spPr>
          <a:xfrm>
            <a:off x="731520" y="138988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664208"/>
            <a:ext cx="3346704"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1. Unit Economics</a:t>
            </a:r>
          </a:p>
          <a:p>
            <a:pPr>
              <a:spcAft>
                <a:spcPts val="500"/>
              </a:spcAft>
              <a:defRPr sz="1050"/>
            </a:pPr>
            <a:r>
              <a:rPr b="1">
                <a:solidFill>
                  <a:srgbClr val="0F172A"/>
                </a:solidFill>
              </a:rPr>
              <a:t>85%+ Gross Software Margin: </a:t>
            </a:r>
            <a:r>
              <a:rPr>
                <a:solidFill>
                  <a:srgbClr val="64748B"/>
                </a:solidFill>
              </a:rPr>
              <a:t>Deterministic Python algorithms have near-zero compute cost compared to GPU-heavy LLMs.</a:t>
            </a:r>
          </a:p>
          <a:p>
            <a:pPr>
              <a:spcAft>
                <a:spcPts val="500"/>
              </a:spcAft>
              <a:defRPr sz="1050"/>
            </a:pPr>
            <a:r>
              <a:rPr b="1">
                <a:solidFill>
                  <a:srgbClr val="0F172A"/>
                </a:solidFill>
              </a:rPr>
              <a:t>Low Acquisition Cost (CAC): </a:t>
            </a:r>
            <a:r>
              <a:rPr>
                <a:solidFill>
                  <a:srgbClr val="64748B"/>
                </a:solidFill>
              </a:rPr>
              <a:t>Freemium spreadsheet dropzone drives organic broker sign-ups and viral word-of-mouth.</a:t>
            </a:r>
          </a:p>
          <a:p>
            <a:pPr>
              <a:spcAft>
                <a:spcPts val="500"/>
              </a:spcAft>
              <a:defRPr sz="1050"/>
            </a:pPr>
            <a:r>
              <a:rPr b="1">
                <a:solidFill>
                  <a:srgbClr val="0F172A"/>
                </a:solidFill>
              </a:rPr>
              <a:t>Expansion Revenue: </a:t>
            </a:r>
            <a:r>
              <a:rPr>
                <a:solidFill>
                  <a:srgbClr val="64748B"/>
                </a:solidFill>
              </a:rPr>
              <a:t>Expansion via additional dispatcher seats ($25/seat) and high-volume API overage packages.</a:t>
            </a:r>
          </a:p>
          <a:p>
            <a:pPr>
              <a:spcAft>
                <a:spcPts val="500"/>
              </a:spcAft>
              <a:defRPr sz="1050"/>
            </a:pPr>
            <a:r>
              <a:rPr b="1">
                <a:solidFill>
                  <a:srgbClr val="0F172A"/>
                </a:solidFill>
              </a:rPr>
              <a:t>High Broker Retention: </a:t>
            </a:r>
            <a:r>
              <a:rPr>
                <a:solidFill>
                  <a:srgbClr val="64748B"/>
                </a:solidFill>
              </a:rPr>
              <a:t>Once carrier tariffs are uploaded and verified, switching costs are high.</a:t>
            </a:r>
          </a:p>
        </p:txBody>
      </p:sp>
      <p:sp>
        <p:nvSpPr>
          <p:cNvPr id="10" name="Rounded Rectangle 9"/>
          <p:cNvSpPr/>
          <p:nvPr/>
        </p:nvSpPr>
        <p:spPr>
          <a:xfrm>
            <a:off x="43891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664208"/>
            <a:ext cx="3346704" cy="7315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2. 3-Year ARR Projections</a:t>
            </a:r>
          </a:p>
          <a:p>
            <a:pPr>
              <a:spcAft>
                <a:spcPts val="500"/>
              </a:spcAft>
              <a:defRPr sz="1050"/>
            </a:pPr>
            <a:r>
              <a:rPr b="1">
                <a:solidFill>
                  <a:srgbClr val="0F172A"/>
                </a:solidFill>
              </a:rPr>
              <a:t>Year 1 ARR ($180K CAD): </a:t>
            </a:r>
            <a:r>
              <a:rPr>
                <a:solidFill>
                  <a:srgbClr val="64748B"/>
                </a:solidFill>
              </a:rPr>
              <a:t>150 active brokerage accounts (110 Pro, 40 Team) across Ontario and Quebec.</a:t>
            </a:r>
          </a:p>
          <a:p>
            <a:pPr>
              <a:spcAft>
                <a:spcPts val="500"/>
              </a:spcAft>
              <a:defRPr sz="1050"/>
            </a:pPr>
            <a:r>
              <a:rPr b="1">
                <a:solidFill>
                  <a:srgbClr val="0F172A"/>
                </a:solidFill>
              </a:rPr>
              <a:t>Year 2 ARR ($750K CAD): </a:t>
            </a:r>
            <a:r>
              <a:rPr>
                <a:solidFill>
                  <a:srgbClr val="64748B"/>
                </a:solidFill>
              </a:rPr>
              <a:t>550 brokerages across Canada + 15 3PL Embedded API enterprise contracts.</a:t>
            </a:r>
          </a:p>
          <a:p>
            <a:pPr>
              <a:spcAft>
                <a:spcPts val="500"/>
              </a:spcAft>
              <a:defRPr sz="1050"/>
            </a:pPr>
            <a:r>
              <a:rPr b="1">
                <a:solidFill>
                  <a:srgbClr val="0F172A"/>
                </a:solidFill>
              </a:rPr>
              <a:t>Year 3 ARR ($2.4M CAD): </a:t>
            </a:r>
            <a:r>
              <a:rPr>
                <a:solidFill>
                  <a:srgbClr val="64748B"/>
                </a:solidFill>
              </a:rPr>
              <a:t>1,400 active accounts + national carrier partnerships and cross-border US expansion.</a:t>
            </a:r>
          </a:p>
          <a:p>
            <a:pPr>
              <a:spcAft>
                <a:spcPts val="500"/>
              </a:spcAft>
              <a:defRPr sz="1050"/>
            </a:pPr>
            <a:r>
              <a:rPr b="1">
                <a:solidFill>
                  <a:srgbClr val="0F172A"/>
                </a:solidFill>
              </a:rPr>
              <a:t>Path to Profitability: </a:t>
            </a:r>
            <a:r>
              <a:rPr>
                <a:solidFill>
                  <a:srgbClr val="64748B"/>
                </a:solidFill>
              </a:rPr>
              <a:t>Cash-flow positive projected by Month 14 of commercial launch.</a:t>
            </a:r>
          </a:p>
        </p:txBody>
      </p:sp>
      <p:sp>
        <p:nvSpPr>
          <p:cNvPr id="13" name="Rounded Rectangle 12"/>
          <p:cNvSpPr/>
          <p:nvPr/>
        </p:nvSpPr>
        <p:spPr>
          <a:xfrm>
            <a:off x="8046720" y="1645920"/>
            <a:ext cx="33832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65008" y="1664208"/>
            <a:ext cx="3346704"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828800"/>
            <a:ext cx="2926080" cy="4251960"/>
          </a:xfrm>
          <a:prstGeom prst="rect">
            <a:avLst/>
          </a:prstGeom>
          <a:noFill/>
        </p:spPr>
        <p:txBody>
          <a:bodyPr wrap="square" lIns="0" tIns="0" rIns="0" bIns="0">
            <a:spAutoFit/>
          </a:bodyPr>
          <a:lstStyle/>
          <a:p>
            <a:pPr>
              <a:spcAft>
                <a:spcPts val="800"/>
              </a:spcAft>
              <a:defRPr sz="1400" b="1">
                <a:solidFill>
                  <a:srgbClr val="0F172A"/>
                </a:solidFill>
              </a:defRPr>
            </a:pPr>
            <a:r>
              <a:t>3. Product Roadmap</a:t>
            </a:r>
          </a:p>
          <a:p>
            <a:pPr>
              <a:spcAft>
                <a:spcPts val="500"/>
              </a:spcAft>
              <a:defRPr sz="1050"/>
            </a:pPr>
            <a:r>
              <a:rPr b="1">
                <a:solidFill>
                  <a:srgbClr val="0F172A"/>
                </a:solidFill>
              </a:rPr>
              <a:t>Q1 2027: Multi-Currency: </a:t>
            </a:r>
            <a:r>
              <a:rPr>
                <a:solidFill>
                  <a:srgbClr val="64748B"/>
                </a:solidFill>
              </a:rPr>
              <a:t>Live CAD/USD spot exchange rate conversion for cross-border US-Canada lanes.</a:t>
            </a:r>
          </a:p>
          <a:p>
            <a:pPr>
              <a:spcAft>
                <a:spcPts val="500"/>
              </a:spcAft>
              <a:defRPr sz="1050"/>
            </a:pPr>
            <a:r>
              <a:rPr b="1">
                <a:solidFill>
                  <a:srgbClr val="0F172A"/>
                </a:solidFill>
              </a:rPr>
              <a:t>Q2 2027: EDI 204/210 Bridge: </a:t>
            </a:r>
            <a:r>
              <a:rPr>
                <a:solidFill>
                  <a:srgbClr val="64748B"/>
                </a:solidFill>
              </a:rPr>
              <a:t>Automated invoice comparison against original quoted spreadsheet cells.</a:t>
            </a:r>
          </a:p>
          <a:p>
            <a:pPr>
              <a:spcAft>
                <a:spcPts val="500"/>
              </a:spcAft>
              <a:defRPr sz="1050"/>
            </a:pPr>
            <a:r>
              <a:rPr b="1">
                <a:solidFill>
                  <a:srgbClr val="0F172A"/>
                </a:solidFill>
              </a:rPr>
              <a:t>Q3 2027: Rate Anomaly Alerts: </a:t>
            </a:r>
            <a:r>
              <a:rPr>
                <a:solidFill>
                  <a:srgbClr val="64748B"/>
                </a:solidFill>
              </a:rPr>
              <a:t>Proactive alerts when carrier annual tariff renewals increase lane costs by &gt;20%.</a:t>
            </a:r>
          </a:p>
          <a:p>
            <a:pPr>
              <a:spcAft>
                <a:spcPts val="500"/>
              </a:spcAft>
              <a:defRPr sz="1050"/>
            </a:pPr>
            <a:r>
              <a:rPr b="1">
                <a:solidFill>
                  <a:srgbClr val="0F172A"/>
                </a:solidFill>
              </a:rPr>
              <a:t>Q4 2027: US Domestic Tariff Corpus: </a:t>
            </a:r>
            <a:r>
              <a:rPr>
                <a:solidFill>
                  <a:srgbClr val="64748B"/>
                </a:solidFill>
              </a:rPr>
              <a:t>Expand CzarLite corpus across US South and West freight lanes.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